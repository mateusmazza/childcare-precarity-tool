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0"/>
  </p:notesMasterIdLst>
  <p:sldIdLst>
    <p:sldId id="257" r:id="rId2"/>
    <p:sldId id="274" r:id="rId3"/>
    <p:sldId id="265" r:id="rId4"/>
    <p:sldId id="266" r:id="rId5"/>
    <p:sldId id="267" r:id="rId6"/>
    <p:sldId id="269" r:id="rId7"/>
    <p:sldId id="268" r:id="rId8"/>
    <p:sldId id="258" r:id="rId9"/>
    <p:sldId id="260" r:id="rId10"/>
    <p:sldId id="259" r:id="rId11"/>
    <p:sldId id="261" r:id="rId12"/>
    <p:sldId id="262" r:id="rId13"/>
    <p:sldId id="263" r:id="rId14"/>
    <p:sldId id="264" r:id="rId15"/>
    <p:sldId id="270" r:id="rId16"/>
    <p:sldId id="271" r:id="rId17"/>
    <p:sldId id="272" r:id="rId18"/>
    <p:sldId id="273" r:id="rId19"/>
  </p:sldIdLst>
  <p:sldSz cx="1371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29"/>
    <p:restoredTop sz="76039"/>
  </p:normalViewPr>
  <p:slideViewPr>
    <p:cSldViewPr snapToGrid="0">
      <p:cViewPr varScale="1">
        <p:scale>
          <a:sx n="77" d="100"/>
          <a:sy n="77" d="100"/>
        </p:scale>
        <p:origin x="15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6B0D21-959E-374B-80F3-FC5DAE86C141}" type="datetimeFigureOut">
              <a:rPr lang="en-US" smtClean="0"/>
              <a:t>11/13/24</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A9353-E2BF-D244-97B7-B574FE72D888}" type="slidenum">
              <a:rPr lang="en-US" smtClean="0"/>
              <a:t>‹#›</a:t>
            </a:fld>
            <a:endParaRPr lang="en-US"/>
          </a:p>
        </p:txBody>
      </p:sp>
    </p:spTree>
    <p:extLst>
      <p:ext uri="{BB962C8B-B14F-4D97-AF65-F5344CB8AC3E}">
        <p14:creationId xmlns:p14="http://schemas.microsoft.com/office/powerpoint/2010/main" val="2107821044"/>
      </p:ext>
    </p:extLst>
  </p:cSld>
  <p:clrMap bg1="lt1" tx1="dk1" bg2="lt2" tx2="dk2" accent1="accent1" accent2="accent2" accent3="accent3" accent4="accent4" accent5="accent5" accent6="accent6" hlink="hlink" folHlink="folHlink"/>
  <p:notesStyle>
    <a:lvl1pPr marL="0" algn="l" defTabSz="1316736" rtl="0" eaLnBrk="1" latinLnBrk="0" hangingPunct="1">
      <a:defRPr sz="1728" kern="1200">
        <a:solidFill>
          <a:schemeClr val="tx1"/>
        </a:solidFill>
        <a:latin typeface="+mn-lt"/>
        <a:ea typeface="+mn-ea"/>
        <a:cs typeface="+mn-cs"/>
      </a:defRPr>
    </a:lvl1pPr>
    <a:lvl2pPr marL="658368" algn="l" defTabSz="1316736" rtl="0" eaLnBrk="1" latinLnBrk="0" hangingPunct="1">
      <a:defRPr sz="1728" kern="1200">
        <a:solidFill>
          <a:schemeClr val="tx1"/>
        </a:solidFill>
        <a:latin typeface="+mn-lt"/>
        <a:ea typeface="+mn-ea"/>
        <a:cs typeface="+mn-cs"/>
      </a:defRPr>
    </a:lvl2pPr>
    <a:lvl3pPr marL="1316736" algn="l" defTabSz="1316736" rtl="0" eaLnBrk="1" latinLnBrk="0" hangingPunct="1">
      <a:defRPr sz="1728" kern="1200">
        <a:solidFill>
          <a:schemeClr val="tx1"/>
        </a:solidFill>
        <a:latin typeface="+mn-lt"/>
        <a:ea typeface="+mn-ea"/>
        <a:cs typeface="+mn-cs"/>
      </a:defRPr>
    </a:lvl3pPr>
    <a:lvl4pPr marL="1975104" algn="l" defTabSz="1316736" rtl="0" eaLnBrk="1" latinLnBrk="0" hangingPunct="1">
      <a:defRPr sz="1728" kern="1200">
        <a:solidFill>
          <a:schemeClr val="tx1"/>
        </a:solidFill>
        <a:latin typeface="+mn-lt"/>
        <a:ea typeface="+mn-ea"/>
        <a:cs typeface="+mn-cs"/>
      </a:defRPr>
    </a:lvl4pPr>
    <a:lvl5pPr marL="2633472" algn="l" defTabSz="1316736" rtl="0" eaLnBrk="1" latinLnBrk="0" hangingPunct="1">
      <a:defRPr sz="1728" kern="1200">
        <a:solidFill>
          <a:schemeClr val="tx1"/>
        </a:solidFill>
        <a:latin typeface="+mn-lt"/>
        <a:ea typeface="+mn-ea"/>
        <a:cs typeface="+mn-cs"/>
      </a:defRPr>
    </a:lvl5pPr>
    <a:lvl6pPr marL="3291840" algn="l" defTabSz="1316736" rtl="0" eaLnBrk="1" latinLnBrk="0" hangingPunct="1">
      <a:defRPr sz="1728" kern="1200">
        <a:solidFill>
          <a:schemeClr val="tx1"/>
        </a:solidFill>
        <a:latin typeface="+mn-lt"/>
        <a:ea typeface="+mn-ea"/>
        <a:cs typeface="+mn-cs"/>
      </a:defRPr>
    </a:lvl6pPr>
    <a:lvl7pPr marL="3950208" algn="l" defTabSz="1316736" rtl="0" eaLnBrk="1" latinLnBrk="0" hangingPunct="1">
      <a:defRPr sz="1728" kern="1200">
        <a:solidFill>
          <a:schemeClr val="tx1"/>
        </a:solidFill>
        <a:latin typeface="+mn-lt"/>
        <a:ea typeface="+mn-ea"/>
        <a:cs typeface="+mn-cs"/>
      </a:defRPr>
    </a:lvl7pPr>
    <a:lvl8pPr marL="4608576" algn="l" defTabSz="1316736" rtl="0" eaLnBrk="1" latinLnBrk="0" hangingPunct="1">
      <a:defRPr sz="1728" kern="1200">
        <a:solidFill>
          <a:schemeClr val="tx1"/>
        </a:solidFill>
        <a:latin typeface="+mn-lt"/>
        <a:ea typeface="+mn-ea"/>
        <a:cs typeface="+mn-cs"/>
      </a:defRPr>
    </a:lvl8pPr>
    <a:lvl9pPr marL="5266944" algn="l" defTabSz="1316736" rtl="0" eaLnBrk="1" latinLnBrk="0" hangingPunct="1">
      <a:defRPr sz="172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proquest.com/search/2530341?accountid=14026"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143000"/>
            <a:ext cx="4629150" cy="3086100"/>
          </a:xfrm>
        </p:spPr>
      </p:sp>
      <p:sp>
        <p:nvSpPr>
          <p:cNvPr id="3" name="Notes Placeholder 2"/>
          <p:cNvSpPr>
            <a:spLocks noGrp="1"/>
          </p:cNvSpPr>
          <p:nvPr>
            <p:ph type="body" idx="1"/>
          </p:nvPr>
        </p:nvSpPr>
        <p:spPr/>
        <p:txBody>
          <a:bodyPr/>
          <a:lstStyle/>
          <a:p>
            <a:pPr marL="0" marR="0">
              <a:spcBef>
                <a:spcPts val="0"/>
              </a:spcBef>
              <a:spcAft>
                <a:spcPts val="0"/>
              </a:spcAft>
            </a:pPr>
            <a:r>
              <a:rPr lang="en-US" sz="1800" b="1" i="1" kern="100" dirty="0">
                <a:effectLst/>
                <a:latin typeface="Times New Roman" panose="02020603050405020304" pitchFamily="18" charset="0"/>
                <a:ea typeface="DengXian" panose="02010600030101010101" pitchFamily="2" charset="-122"/>
                <a:cs typeface="Times New Roman" panose="02020603050405020304" pitchFamily="18" charset="0"/>
              </a:rPr>
              <a:t>Search Criteria</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b="1" i="1" kern="100" dirty="0">
                <a:effectLst/>
                <a:latin typeface="Times New Roman" panose="02020603050405020304" pitchFamily="18" charset="0"/>
                <a:ea typeface="DengXian" panose="02010600030101010101" pitchFamily="2" charset="-122"/>
                <a:cs typeface="Times New Roman" panose="02020603050405020304" pitchFamily="18" charset="0"/>
              </a:rPr>
              <a:t>Date</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1/16/2024</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b="1" i="1" kern="100" dirty="0">
                <a:effectLst/>
                <a:latin typeface="Times New Roman" panose="02020603050405020304" pitchFamily="18" charset="0"/>
                <a:ea typeface="DengXian" panose="02010600030101010101" pitchFamily="2" charset="-122"/>
                <a:cs typeface="Times New Roman" panose="02020603050405020304" pitchFamily="18" charset="0"/>
              </a:rPr>
              <a:t>Key words: </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457200" marR="0">
              <a:spcBef>
                <a:spcPts val="0"/>
              </a:spcBef>
              <a:spcAft>
                <a:spcPts val="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Unpredictability, predictability, uncertainty, certainty, uncontrollability, controllability, instability, stability, inconsistency, consistency, unreliability, </a:t>
            </a:r>
            <a:r>
              <a:rPr lang="en-US" sz="1800" u="sng" strike="sngStrike" kern="100" dirty="0">
                <a:solidFill>
                  <a:srgbClr val="0563C1"/>
                </a:solidFill>
                <a:effectLst/>
                <a:latin typeface="Times New Roman" panose="02020603050405020304" pitchFamily="18" charset="0"/>
                <a:ea typeface="DengXian" panose="02010600030101010101" pitchFamily="2" charset="-122"/>
                <a:cs typeface="Times New Roman" panose="02020603050405020304" pitchFamily="18" charset="0"/>
              </a:rPr>
              <a:t>reliability</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irregularity, regularity, volatility, routine, chaos, fluctuation, fragmentation</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457200" marR="0">
              <a:spcBef>
                <a:spcPts val="0"/>
              </a:spcBef>
              <a:spcAft>
                <a:spcPts val="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Not: locus of control</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457200" marR="0">
              <a:spcBef>
                <a:spcPts val="0"/>
              </a:spcBef>
              <a:spcAft>
                <a:spcPts val="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In combination with:</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457200" marR="0">
              <a:spcBef>
                <a:spcPts val="0"/>
              </a:spcBef>
              <a:spcAft>
                <a:spcPts val="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Child, childhood, infant, infancy, prenatal, adolescent, adolescence, youth</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457200" marR="0">
              <a:spcBef>
                <a:spcPts val="0"/>
              </a:spcBef>
              <a:spcAft>
                <a:spcPts val="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In combination with:</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457200" marR="0">
              <a:spcBef>
                <a:spcPts val="0"/>
              </a:spcBef>
              <a:spcAft>
                <a:spcPts val="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Environment, environmental, context, contextual, experience, ecological, family, school, neighborhood, parent, parenting, caregiver, caregiving</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457200" marR="0">
              <a:spcBef>
                <a:spcPts val="0"/>
              </a:spcBef>
              <a:spcAft>
                <a:spcPts val="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457200" marR="0">
              <a:spcBef>
                <a:spcPts val="0"/>
              </a:spcBef>
              <a:spcAft>
                <a:spcPts val="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((TITLE(unpredictability) OR TITLE(predictability) OR TITLE(uncertainty) OR TITLE(certainty) OR TITLE(uncontrollability) OR TITLE(controllability) OR TITLE(instability) OR TITLE(stability) OR TITLE(inconsistency) OR TITLE(consistency) OR TITLE(unreliability) OR TITLE(irregularity) OR TITLE(regularity) OR TITLE(volatility) OR TITLE(routine) OR TITLE(chaos) OR TITLE(fluctuation) OR TITLE(fragmentation)) </a:t>
            </a: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NOT </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(locus of control))) </a:t>
            </a: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AND</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(Child)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(childhood)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(infant)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(infancy)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(prenatal)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(adolescent)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(adolescence)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(youth)) </a:t>
            </a: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AND</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(Environment)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(environmental)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(context)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(contextual)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(experience)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(ecological)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(family)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(school)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(neighborhood)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(parent)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(parenting)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(caregiver) OR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tiab</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(caregiving)) </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457200" marR="0">
              <a:spcBef>
                <a:spcPts val="0"/>
              </a:spcBef>
              <a:spcAft>
                <a:spcPts val="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b="1" i="1" kern="100" dirty="0">
                <a:effectLst/>
                <a:latin typeface="Times New Roman" panose="02020603050405020304" pitchFamily="18" charset="0"/>
                <a:ea typeface="DengXian" panose="02010600030101010101" pitchFamily="2" charset="-122"/>
                <a:cs typeface="Times New Roman" panose="02020603050405020304" pitchFamily="18" charset="0"/>
              </a:rPr>
              <a:t>Peer-reviewed </a:t>
            </a:r>
            <a:r>
              <a:rPr lang="en-US" sz="1800" i="1" kern="100" dirty="0">
                <a:effectLst/>
                <a:latin typeface="Times New Roman" panose="02020603050405020304" pitchFamily="18" charset="0"/>
                <a:ea typeface="DengXian" panose="02010600030101010101" pitchFamily="2" charset="-122"/>
                <a:cs typeface="Times New Roman" panose="02020603050405020304" pitchFamily="18" charset="0"/>
              </a:rPr>
              <a:t>only</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b="1" i="1" kern="100" dirty="0">
                <a:effectLst/>
                <a:latin typeface="Times New Roman" panose="02020603050405020304" pitchFamily="18" charset="0"/>
                <a:ea typeface="DengXian" panose="02010600030101010101" pitchFamily="2" charset="-122"/>
                <a:cs typeface="Times New Roman" panose="02020603050405020304" pitchFamily="18" charset="0"/>
              </a:rPr>
              <a:t>Publication Dates</a:t>
            </a:r>
            <a:r>
              <a:rPr lang="en-US" sz="1800" i="1" kern="100" dirty="0">
                <a:effectLst/>
                <a:latin typeface="Times New Roman" panose="02020603050405020304" pitchFamily="18" charset="0"/>
                <a:ea typeface="DengXian" panose="02010600030101010101" pitchFamily="2" charset="-122"/>
                <a:cs typeface="Times New Roman" panose="02020603050405020304" pitchFamily="18" charset="0"/>
              </a:rPr>
              <a:t>:</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2010-present </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b="1" i="1" kern="100" dirty="0">
                <a:effectLst/>
                <a:latin typeface="Times New Roman" panose="02020603050405020304" pitchFamily="18" charset="0"/>
                <a:ea typeface="DengXian" panose="02010600030101010101" pitchFamily="2" charset="-122"/>
                <a:cs typeface="Times New Roman" panose="02020603050405020304" pitchFamily="18" charset="0"/>
              </a:rPr>
              <a:t>Language: </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English</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b="1" i="1" kern="100" dirty="0">
                <a:effectLst/>
                <a:latin typeface="Times New Roman" panose="02020603050405020304" pitchFamily="18" charset="0"/>
                <a:ea typeface="DengXian" panose="02010600030101010101" pitchFamily="2" charset="-122"/>
                <a:cs typeface="Times New Roman" panose="02020603050405020304" pitchFamily="18" charset="0"/>
              </a:rPr>
              <a:t>Methodology:</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include empirical study, quantitative study,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followup</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study, longitudinal study, prospective study, retrospective study (basically excluding qualitative &amp; review papers) </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Results: 863 papers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spcBef>
                <a:spcPts val="0"/>
              </a:spcBef>
              <a:spcAft>
                <a:spcPts val="0"/>
              </a:spcAf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spcBef>
                <a:spcPts val="0"/>
              </a:spcBef>
              <a:spcAft>
                <a:spcPts val="0"/>
              </a:spcAft>
            </a:pPr>
            <a:r>
              <a:rPr lang="en-US" sz="1800" b="1" i="1" kern="100" dirty="0">
                <a:effectLst/>
                <a:latin typeface="Times New Roman" panose="02020603050405020304" pitchFamily="18" charset="0"/>
                <a:ea typeface="DengXian" panose="02010600030101010101" pitchFamily="2" charset="-122"/>
                <a:cs typeface="Times New Roman" panose="02020603050405020304" pitchFamily="18" charset="0"/>
              </a:rPr>
              <a:t>Adjustment after Initial Search</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b="1" i="1" kern="100" dirty="0">
                <a:effectLst/>
                <a:latin typeface="Times New Roman" panose="02020603050405020304" pitchFamily="18" charset="0"/>
                <a:ea typeface="DengXian" panose="02010600030101010101" pitchFamily="2" charset="-122"/>
                <a:cs typeface="Times New Roman" panose="02020603050405020304" pitchFamily="18" charset="0"/>
              </a:rPr>
              <a:t>Subject: </a:t>
            </a:r>
            <a:r>
              <a:rPr lang="en-US" sz="1800" i="1" kern="100" dirty="0">
                <a:effectLst/>
                <a:latin typeface="Times New Roman" panose="02020603050405020304" pitchFamily="18" charset="0"/>
                <a:ea typeface="DengXian" panose="02010600030101010101" pitchFamily="2" charset="-122"/>
                <a:cs typeface="Times New Roman" panose="02020603050405020304" pitchFamily="18" charset="0"/>
              </a:rPr>
              <a:t>Exclude autism spectrum disorders (33): 830 papers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b="1" i="1" kern="100" dirty="0">
                <a:effectLst/>
                <a:latin typeface="Times New Roman" panose="02020603050405020304" pitchFamily="18" charset="0"/>
                <a:ea typeface="DengXian" panose="02010600030101010101" pitchFamily="2" charset="-122"/>
                <a:cs typeface="Times New Roman" panose="02020603050405020304" pitchFamily="18" charset="0"/>
              </a:rPr>
              <a:t>Population: </a:t>
            </a:r>
            <a:r>
              <a:rPr lang="en-US" sz="1800" i="1" kern="100" dirty="0">
                <a:effectLst/>
                <a:latin typeface="Times New Roman" panose="02020603050405020304" pitchFamily="18" charset="0"/>
                <a:ea typeface="DengXian" panose="02010600030101010101" pitchFamily="2" charset="-122"/>
                <a:cs typeface="Times New Roman" panose="02020603050405020304" pitchFamily="18" charset="0"/>
              </a:rPr>
              <a:t>Exclude animal (19): 811 papers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spcBef>
                <a:spcPts val="0"/>
              </a:spcBef>
              <a:spcAft>
                <a:spcPts val="0"/>
              </a:spcAft>
              <a:buFont typeface="Symbol" pitchFamily="2" charset="2"/>
              <a:buChar char=""/>
            </a:pPr>
            <a:r>
              <a:rPr lang="en-US" sz="1800" b="1" i="1" kern="100" dirty="0">
                <a:effectLst/>
                <a:latin typeface="Times New Roman" panose="02020603050405020304" pitchFamily="18" charset="0"/>
                <a:ea typeface="DengXian" panose="02010600030101010101" pitchFamily="2" charset="-122"/>
                <a:cs typeface="Times New Roman" panose="02020603050405020304" pitchFamily="18" charset="0"/>
              </a:rPr>
              <a:t>Methodology: </a:t>
            </a:r>
            <a:r>
              <a:rPr lang="en-US" sz="1800" i="1" kern="100" dirty="0">
                <a:effectLst/>
                <a:latin typeface="Times New Roman" panose="02020603050405020304" pitchFamily="18" charset="0"/>
                <a:ea typeface="DengXian" panose="02010600030101010101" pitchFamily="2" charset="-122"/>
                <a:cs typeface="Times New Roman" panose="02020603050405020304" pitchFamily="18" charset="0"/>
              </a:rPr>
              <a:t>exclude interview (256), focus group (20), field study (8), nonclinical case study (8), clinical trial (4), experimental replication (3), clinical case study (1): 547 papers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spcBef>
                <a:spcPts val="0"/>
              </a:spcBef>
              <a:spcAft>
                <a:spcPts val="0"/>
              </a:spcAft>
            </a:pPr>
            <a:r>
              <a:rPr lang="en-US" sz="1800" i="1" u="sng" kern="100" dirty="0">
                <a:solidFill>
                  <a:srgbClr val="0563C1"/>
                </a:solidFill>
                <a:effectLst/>
                <a:latin typeface="Times New Roman" panose="02020603050405020304" pitchFamily="18" charset="0"/>
                <a:ea typeface="DengXian" panose="02010600030101010101" pitchFamily="2" charset="-122"/>
                <a:cs typeface="Times New Roman" panose="02020603050405020304" pitchFamily="18" charset="0"/>
                <a:hlinkClick r:id="rId3"/>
              </a:rPr>
              <a:t>https://www.proquest.com/search/2530341?accountid=14026</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spcBef>
                <a:spcPts val="0"/>
              </a:spcBef>
              <a:spcAft>
                <a:spcPts val="0"/>
              </a:spcAft>
            </a:pP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US" sz="1800" kern="100"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rPr>
              <a:t>Intentionally remove because this often search for scale reliability</a:t>
            </a:r>
          </a:p>
          <a:p>
            <a:pPr marL="0" marR="0">
              <a:spcBef>
                <a:spcPts val="0"/>
              </a:spcBef>
              <a:spcAft>
                <a:spcPts val="0"/>
              </a:spcAft>
            </a:pPr>
            <a:endParaRPr lang="en-US" sz="1800" kern="100"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endParaRPr>
          </a:p>
          <a:p>
            <a:pPr marL="0" marR="0">
              <a:spcBef>
                <a:spcPts val="0"/>
              </a:spcBef>
              <a:spcAft>
                <a:spcPts val="0"/>
              </a:spcAft>
            </a:pPr>
            <a:endParaRPr lang="en-US" sz="1800" kern="100"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endParaRPr>
          </a:p>
          <a:p>
            <a:pPr marL="0" marR="0">
              <a:spcBef>
                <a:spcPts val="0"/>
              </a:spcBef>
              <a:spcAft>
                <a:spcPts val="0"/>
              </a:spcAft>
            </a:pPr>
            <a:r>
              <a:rPr lang="en-US" sz="1800" kern="100"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rPr>
              <a:t>Begin analyses with quantitative studies. Then look into the qualitative studies and have a section on these studies. </a:t>
            </a:r>
          </a:p>
          <a:p>
            <a:pPr marL="0" marR="0">
              <a:spcBef>
                <a:spcPts val="0"/>
              </a:spcBef>
              <a:spcAft>
                <a:spcPts val="0"/>
              </a:spcAft>
            </a:pPr>
            <a:r>
              <a:rPr lang="en-US" sz="1800" kern="100"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rPr>
              <a:t>Qual studies – exclude ones not focusing on children, see how many there are \≥ </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63A9353-E2BF-D244-97B7-B574FE72D888}" type="slidenum">
              <a:rPr lang="en-US" smtClean="0"/>
              <a:t>1</a:t>
            </a:fld>
            <a:endParaRPr lang="en-US"/>
          </a:p>
        </p:txBody>
      </p:sp>
    </p:spTree>
    <p:extLst>
      <p:ext uri="{BB962C8B-B14F-4D97-AF65-F5344CB8AC3E}">
        <p14:creationId xmlns:p14="http://schemas.microsoft.com/office/powerpoint/2010/main" val="1844630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meeting: </a:t>
            </a:r>
          </a:p>
          <a:p>
            <a:pPr marL="342900" indent="-342900">
              <a:buAutoNum type="arabicPeriod"/>
            </a:pPr>
            <a:r>
              <a:rPr lang="en-US" dirty="0"/>
              <a:t>Compare how we vs. Davis &amp; Glynn papers differ</a:t>
            </a:r>
          </a:p>
          <a:p>
            <a:pPr marL="342900" indent="-342900">
              <a:buAutoNum type="arabicPeriod"/>
            </a:pPr>
            <a:r>
              <a:rPr lang="en-US" dirty="0"/>
              <a:t>Questionnaire &amp; survey studies </a:t>
            </a:r>
          </a:p>
          <a:p>
            <a:pPr marL="342900" indent="-342900">
              <a:buAutoNum type="arabicPeriod"/>
            </a:pPr>
            <a:r>
              <a:rPr lang="en-US" dirty="0"/>
              <a:t>Qualitative studies </a:t>
            </a:r>
          </a:p>
          <a:p>
            <a:pPr marL="342900" indent="-342900">
              <a:buAutoNum type="arabicPeriod"/>
            </a:pPr>
            <a:endParaRPr lang="en-US" dirty="0"/>
          </a:p>
          <a:p>
            <a:pPr marL="342900" indent="-342900">
              <a:buAutoNum type="arabicPeriod"/>
            </a:pPr>
            <a:endParaRPr lang="en-US" dirty="0"/>
          </a:p>
          <a:p>
            <a:pPr marL="342900" indent="-342900">
              <a:buAutoNum type="arabicPeriod"/>
            </a:pPr>
            <a:r>
              <a:rPr lang="en-US" dirty="0"/>
              <a:t>Meeting after next: Go back to outline and talk about writing up. </a:t>
            </a:r>
          </a:p>
        </p:txBody>
      </p:sp>
      <p:sp>
        <p:nvSpPr>
          <p:cNvPr id="4" name="Slide Number Placeholder 3"/>
          <p:cNvSpPr>
            <a:spLocks noGrp="1"/>
          </p:cNvSpPr>
          <p:nvPr>
            <p:ph type="sldNum" sz="quarter" idx="5"/>
          </p:nvPr>
        </p:nvSpPr>
        <p:spPr/>
        <p:txBody>
          <a:bodyPr/>
          <a:lstStyle/>
          <a:p>
            <a:fld id="{A63A9353-E2BF-D244-97B7-B574FE72D888}" type="slidenum">
              <a:rPr lang="en-US" smtClean="0"/>
              <a:t>3</a:t>
            </a:fld>
            <a:endParaRPr lang="en-US"/>
          </a:p>
        </p:txBody>
      </p:sp>
    </p:spTree>
    <p:extLst>
      <p:ext uri="{BB962C8B-B14F-4D97-AF65-F5344CB8AC3E}">
        <p14:creationId xmlns:p14="http://schemas.microsoft.com/office/powerpoint/2010/main" val="125980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Feel like the timescale is the defining character to classify different unpredictability-related constructs at this point. But this may change when incorporating questionaries. </a:t>
            </a:r>
          </a:p>
          <a:p>
            <a:endParaRPr lang="en-US" dirty="0"/>
          </a:p>
          <a:p>
            <a:r>
              <a:rPr lang="en-US" dirty="0"/>
              <a:t>Look in to Davis &amp; Glynn paper and see if the concepts overlap or not. Look at how we divide these constructs is consistent with theirs. </a:t>
            </a:r>
          </a:p>
        </p:txBody>
      </p:sp>
      <p:sp>
        <p:nvSpPr>
          <p:cNvPr id="4" name="Slide Number Placeholder 3"/>
          <p:cNvSpPr>
            <a:spLocks noGrp="1"/>
          </p:cNvSpPr>
          <p:nvPr>
            <p:ph type="sldNum" sz="quarter" idx="5"/>
          </p:nvPr>
        </p:nvSpPr>
        <p:spPr/>
        <p:txBody>
          <a:bodyPr/>
          <a:lstStyle/>
          <a:p>
            <a:fld id="{A63A9353-E2BF-D244-97B7-B574FE72D888}" type="slidenum">
              <a:rPr lang="en-US" smtClean="0"/>
              <a:t>5</a:t>
            </a:fld>
            <a:endParaRPr lang="en-US"/>
          </a:p>
        </p:txBody>
      </p:sp>
    </p:spTree>
    <p:extLst>
      <p:ext uri="{BB962C8B-B14F-4D97-AF65-F5344CB8AC3E}">
        <p14:creationId xmlns:p14="http://schemas.microsoft.com/office/powerpoint/2010/main" val="3049295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Timescale: lead to section talking about objective vs. subjective measures of unpredictability. Which each contributes </a:t>
            </a:r>
          </a:p>
          <a:p>
            <a:endParaRPr lang="en-US" dirty="0"/>
          </a:p>
          <a:p>
            <a:r>
              <a:rPr lang="en-US" dirty="0"/>
              <a:t>Keep a file of notes that are missing in the field. We will have a section of the paper on gaps in the literature. </a:t>
            </a:r>
          </a:p>
          <a:p>
            <a:endParaRPr lang="en-US" dirty="0"/>
          </a:p>
          <a:p>
            <a:r>
              <a:rPr lang="en-US" dirty="0"/>
              <a:t>Drop the valence metric. </a:t>
            </a:r>
          </a:p>
          <a:p>
            <a:endParaRPr lang="en-US" dirty="0"/>
          </a:p>
          <a:p>
            <a:r>
              <a:rPr lang="en-US" dirty="0"/>
              <a:t>What about insecure attachment? </a:t>
            </a:r>
          </a:p>
        </p:txBody>
      </p:sp>
      <p:sp>
        <p:nvSpPr>
          <p:cNvPr id="4" name="Slide Number Placeholder 3"/>
          <p:cNvSpPr>
            <a:spLocks noGrp="1"/>
          </p:cNvSpPr>
          <p:nvPr>
            <p:ph type="sldNum" sz="quarter" idx="5"/>
          </p:nvPr>
        </p:nvSpPr>
        <p:spPr/>
        <p:txBody>
          <a:bodyPr/>
          <a:lstStyle/>
          <a:p>
            <a:fld id="{A63A9353-E2BF-D244-97B7-B574FE72D888}" type="slidenum">
              <a:rPr lang="en-US" smtClean="0"/>
              <a:t>6</a:t>
            </a:fld>
            <a:endParaRPr lang="en-US"/>
          </a:p>
        </p:txBody>
      </p:sp>
    </p:spTree>
    <p:extLst>
      <p:ext uri="{BB962C8B-B14F-4D97-AF65-F5344CB8AC3E}">
        <p14:creationId xmlns:p14="http://schemas.microsoft.com/office/powerpoint/2010/main" val="1805530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A9353-E2BF-D244-97B7-B574FE72D888}" type="slidenum">
              <a:rPr lang="en-US" smtClean="0"/>
              <a:t>8</a:t>
            </a:fld>
            <a:endParaRPr lang="en-US"/>
          </a:p>
        </p:txBody>
      </p:sp>
    </p:spTree>
    <p:extLst>
      <p:ext uri="{BB962C8B-B14F-4D97-AF65-F5344CB8AC3E}">
        <p14:creationId xmlns:p14="http://schemas.microsoft.com/office/powerpoint/2010/main" val="2897663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A9353-E2BF-D244-97B7-B574FE72D888}" type="slidenum">
              <a:rPr lang="en-US" smtClean="0"/>
              <a:t>9</a:t>
            </a:fld>
            <a:endParaRPr lang="en-US"/>
          </a:p>
        </p:txBody>
      </p:sp>
    </p:spTree>
    <p:extLst>
      <p:ext uri="{BB962C8B-B14F-4D97-AF65-F5344CB8AC3E}">
        <p14:creationId xmlns:p14="http://schemas.microsoft.com/office/powerpoint/2010/main" val="1612614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does not include simply counting numbers of occurrence (e.g., number of moves) or simply categorizing variables into, for example, binary variables. </a:t>
            </a:r>
          </a:p>
        </p:txBody>
      </p:sp>
      <p:sp>
        <p:nvSpPr>
          <p:cNvPr id="4" name="Slide Number Placeholder 3"/>
          <p:cNvSpPr>
            <a:spLocks noGrp="1"/>
          </p:cNvSpPr>
          <p:nvPr>
            <p:ph type="sldNum" sz="quarter" idx="5"/>
          </p:nvPr>
        </p:nvSpPr>
        <p:spPr/>
        <p:txBody>
          <a:bodyPr/>
          <a:lstStyle/>
          <a:p>
            <a:fld id="{A63A9353-E2BF-D244-97B7-B574FE72D888}" type="slidenum">
              <a:rPr lang="en-US" smtClean="0"/>
              <a:t>10</a:t>
            </a:fld>
            <a:endParaRPr lang="en-US"/>
          </a:p>
        </p:txBody>
      </p:sp>
    </p:spTree>
    <p:extLst>
      <p:ext uri="{BB962C8B-B14F-4D97-AF65-F5344CB8AC3E}">
        <p14:creationId xmlns:p14="http://schemas.microsoft.com/office/powerpoint/2010/main" val="2528539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does not include simply counting numbers of occurrence (e.g., number of moves) or simply categorizing variables into, for example, binary variables. </a:t>
            </a:r>
          </a:p>
        </p:txBody>
      </p:sp>
      <p:sp>
        <p:nvSpPr>
          <p:cNvPr id="4" name="Slide Number Placeholder 3"/>
          <p:cNvSpPr>
            <a:spLocks noGrp="1"/>
          </p:cNvSpPr>
          <p:nvPr>
            <p:ph type="sldNum" sz="quarter" idx="5"/>
          </p:nvPr>
        </p:nvSpPr>
        <p:spPr/>
        <p:txBody>
          <a:bodyPr/>
          <a:lstStyle/>
          <a:p>
            <a:fld id="{A63A9353-E2BF-D244-97B7-B574FE72D888}" type="slidenum">
              <a:rPr lang="en-US" smtClean="0"/>
              <a:t>11</a:t>
            </a:fld>
            <a:endParaRPr lang="en-US"/>
          </a:p>
        </p:txBody>
      </p:sp>
    </p:spTree>
    <p:extLst>
      <p:ext uri="{BB962C8B-B14F-4D97-AF65-F5344CB8AC3E}">
        <p14:creationId xmlns:p14="http://schemas.microsoft.com/office/powerpoint/2010/main" val="2045420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A9353-E2BF-D244-97B7-B574FE72D888}" type="slidenum">
              <a:rPr lang="en-US" smtClean="0"/>
              <a:t>12</a:t>
            </a:fld>
            <a:endParaRPr lang="en-US"/>
          </a:p>
        </p:txBody>
      </p:sp>
    </p:spTree>
    <p:extLst>
      <p:ext uri="{BB962C8B-B14F-4D97-AF65-F5344CB8AC3E}">
        <p14:creationId xmlns:p14="http://schemas.microsoft.com/office/powerpoint/2010/main" val="2911937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A9353-E2BF-D244-97B7-B574FE72D888}" type="slidenum">
              <a:rPr lang="en-US" smtClean="0"/>
              <a:t>13</a:t>
            </a:fld>
            <a:endParaRPr lang="en-US"/>
          </a:p>
        </p:txBody>
      </p:sp>
    </p:spTree>
    <p:extLst>
      <p:ext uri="{BB962C8B-B14F-4D97-AF65-F5344CB8AC3E}">
        <p14:creationId xmlns:p14="http://schemas.microsoft.com/office/powerpoint/2010/main" val="3291547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A9353-E2BF-D244-97B7-B574FE72D888}" type="slidenum">
              <a:rPr lang="en-US" smtClean="0"/>
              <a:t>14</a:t>
            </a:fld>
            <a:endParaRPr lang="en-US"/>
          </a:p>
        </p:txBody>
      </p:sp>
    </p:spTree>
    <p:extLst>
      <p:ext uri="{BB962C8B-B14F-4D97-AF65-F5344CB8AC3E}">
        <p14:creationId xmlns:p14="http://schemas.microsoft.com/office/powerpoint/2010/main" val="3674382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A9353-E2BF-D244-97B7-B574FE72D888}" type="slidenum">
              <a:rPr lang="en-US" smtClean="0"/>
              <a:t>17</a:t>
            </a:fld>
            <a:endParaRPr lang="en-US"/>
          </a:p>
        </p:txBody>
      </p:sp>
    </p:spTree>
    <p:extLst>
      <p:ext uri="{BB962C8B-B14F-4D97-AF65-F5344CB8AC3E}">
        <p14:creationId xmlns:p14="http://schemas.microsoft.com/office/powerpoint/2010/main" val="3387106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A9353-E2BF-D244-97B7-B574FE72D888}" type="slidenum">
              <a:rPr lang="en-US" smtClean="0"/>
              <a:t>18</a:t>
            </a:fld>
            <a:endParaRPr lang="en-US"/>
          </a:p>
        </p:txBody>
      </p:sp>
    </p:spTree>
    <p:extLst>
      <p:ext uri="{BB962C8B-B14F-4D97-AF65-F5344CB8AC3E}">
        <p14:creationId xmlns:p14="http://schemas.microsoft.com/office/powerpoint/2010/main" val="2429753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700" y="1496484"/>
            <a:ext cx="116586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714500" y="4802717"/>
            <a:ext cx="10287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329A5F-AC28-084A-B83F-D259FAAB4E7C}" type="datetimeFigureOut">
              <a:rPr lang="en-US" smtClean="0"/>
              <a:t>11/13/24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685C9-A3F4-0D47-8F7D-36E6433E1872}" type="slidenum">
              <a:rPr lang="en-US" smtClean="0"/>
              <a:t>‹#›</a:t>
            </a:fld>
            <a:endParaRPr lang="en-US"/>
          </a:p>
        </p:txBody>
      </p:sp>
    </p:spTree>
    <p:extLst>
      <p:ext uri="{BB962C8B-B14F-4D97-AF65-F5344CB8AC3E}">
        <p14:creationId xmlns:p14="http://schemas.microsoft.com/office/powerpoint/2010/main" val="2161873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329A5F-AC28-084A-B83F-D259FAAB4E7C}" type="datetimeFigureOut">
              <a:rPr lang="en-US" smtClean="0"/>
              <a:t>11/13/24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685C9-A3F4-0D47-8F7D-36E6433E1872}" type="slidenum">
              <a:rPr lang="en-US" smtClean="0"/>
              <a:t>‹#›</a:t>
            </a:fld>
            <a:endParaRPr lang="en-US"/>
          </a:p>
        </p:txBody>
      </p:sp>
    </p:spTree>
    <p:extLst>
      <p:ext uri="{BB962C8B-B14F-4D97-AF65-F5344CB8AC3E}">
        <p14:creationId xmlns:p14="http://schemas.microsoft.com/office/powerpoint/2010/main" val="2256371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5832" y="2279653"/>
            <a:ext cx="1183005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935832" y="6119286"/>
            <a:ext cx="11830050" cy="2000249"/>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329A5F-AC28-084A-B83F-D259FAAB4E7C}" type="datetimeFigureOut">
              <a:rPr lang="en-US" smtClean="0"/>
              <a:t>11/13/24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685C9-A3F4-0D47-8F7D-36E6433E1872}" type="slidenum">
              <a:rPr lang="en-US" smtClean="0"/>
              <a:t>‹#›</a:t>
            </a:fld>
            <a:endParaRPr lang="en-US"/>
          </a:p>
        </p:txBody>
      </p:sp>
    </p:spTree>
    <p:extLst>
      <p:ext uri="{BB962C8B-B14F-4D97-AF65-F5344CB8AC3E}">
        <p14:creationId xmlns:p14="http://schemas.microsoft.com/office/powerpoint/2010/main" val="3340115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2975" y="2434167"/>
            <a:ext cx="58293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943725" y="2434167"/>
            <a:ext cx="58293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329A5F-AC28-084A-B83F-D259FAAB4E7C}" type="datetimeFigureOut">
              <a:rPr lang="en-US" smtClean="0"/>
              <a:t>11/13/24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685C9-A3F4-0D47-8F7D-36E6433E1872}" type="slidenum">
              <a:rPr lang="en-US" smtClean="0"/>
              <a:t>‹#›</a:t>
            </a:fld>
            <a:endParaRPr lang="en-US"/>
          </a:p>
        </p:txBody>
      </p:sp>
    </p:spTree>
    <p:extLst>
      <p:ext uri="{BB962C8B-B14F-4D97-AF65-F5344CB8AC3E}">
        <p14:creationId xmlns:p14="http://schemas.microsoft.com/office/powerpoint/2010/main" val="2917938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44761" y="486835"/>
            <a:ext cx="1183005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44763" y="2241551"/>
            <a:ext cx="5802510"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944763" y="3340100"/>
            <a:ext cx="5802510"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943725" y="2241551"/>
            <a:ext cx="583108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943725" y="3340100"/>
            <a:ext cx="583108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329A5F-AC28-084A-B83F-D259FAAB4E7C}" type="datetimeFigureOut">
              <a:rPr lang="en-US" smtClean="0"/>
              <a:t>11/13/24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D685C9-A3F4-0D47-8F7D-36E6433E1872}" type="slidenum">
              <a:rPr lang="en-US" smtClean="0"/>
              <a:t>‹#›</a:t>
            </a:fld>
            <a:endParaRPr lang="en-US"/>
          </a:p>
        </p:txBody>
      </p:sp>
    </p:spTree>
    <p:extLst>
      <p:ext uri="{BB962C8B-B14F-4D97-AF65-F5344CB8AC3E}">
        <p14:creationId xmlns:p14="http://schemas.microsoft.com/office/powerpoint/2010/main" val="2472829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329A5F-AC28-084A-B83F-D259FAAB4E7C}" type="datetimeFigureOut">
              <a:rPr lang="en-US" smtClean="0"/>
              <a:t>11/13/24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D685C9-A3F4-0D47-8F7D-36E6433E1872}" type="slidenum">
              <a:rPr lang="en-US" smtClean="0"/>
              <a:t>‹#›</a:t>
            </a:fld>
            <a:endParaRPr lang="en-US"/>
          </a:p>
        </p:txBody>
      </p:sp>
    </p:spTree>
    <p:extLst>
      <p:ext uri="{BB962C8B-B14F-4D97-AF65-F5344CB8AC3E}">
        <p14:creationId xmlns:p14="http://schemas.microsoft.com/office/powerpoint/2010/main" val="3281690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329A5F-AC28-084A-B83F-D259FAAB4E7C}" type="datetimeFigureOut">
              <a:rPr lang="en-US" smtClean="0"/>
              <a:t>11/13/24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D685C9-A3F4-0D47-8F7D-36E6433E1872}" type="slidenum">
              <a:rPr lang="en-US" smtClean="0"/>
              <a:t>‹#›</a:t>
            </a:fld>
            <a:endParaRPr lang="en-US"/>
          </a:p>
        </p:txBody>
      </p:sp>
    </p:spTree>
    <p:extLst>
      <p:ext uri="{BB962C8B-B14F-4D97-AF65-F5344CB8AC3E}">
        <p14:creationId xmlns:p14="http://schemas.microsoft.com/office/powerpoint/2010/main" val="1562683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44762" y="609600"/>
            <a:ext cx="4423767"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831086" y="1316568"/>
            <a:ext cx="6943725"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44762" y="2743200"/>
            <a:ext cx="442376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25329A5F-AC28-084A-B83F-D259FAAB4E7C}" type="datetimeFigureOut">
              <a:rPr lang="en-US" smtClean="0"/>
              <a:t>11/13/24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685C9-A3F4-0D47-8F7D-36E6433E1872}" type="slidenum">
              <a:rPr lang="en-US" smtClean="0"/>
              <a:t>‹#›</a:t>
            </a:fld>
            <a:endParaRPr lang="en-US"/>
          </a:p>
        </p:txBody>
      </p:sp>
    </p:spTree>
    <p:extLst>
      <p:ext uri="{BB962C8B-B14F-4D97-AF65-F5344CB8AC3E}">
        <p14:creationId xmlns:p14="http://schemas.microsoft.com/office/powerpoint/2010/main" val="3465599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44762" y="609600"/>
            <a:ext cx="4423767"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831086" y="1316568"/>
            <a:ext cx="6943725"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944762" y="2743200"/>
            <a:ext cx="442376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25329A5F-AC28-084A-B83F-D259FAAB4E7C}" type="datetimeFigureOut">
              <a:rPr lang="en-US" smtClean="0"/>
              <a:t>11/13/24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685C9-A3F4-0D47-8F7D-36E6433E1872}" type="slidenum">
              <a:rPr lang="en-US" smtClean="0"/>
              <a:t>‹#›</a:t>
            </a:fld>
            <a:endParaRPr lang="en-US"/>
          </a:p>
        </p:txBody>
      </p:sp>
    </p:spTree>
    <p:extLst>
      <p:ext uri="{BB962C8B-B14F-4D97-AF65-F5344CB8AC3E}">
        <p14:creationId xmlns:p14="http://schemas.microsoft.com/office/powerpoint/2010/main" val="520543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329A5F-AC28-084A-B83F-D259FAAB4E7C}" type="datetimeFigureOut">
              <a:rPr lang="en-US" smtClean="0"/>
              <a:t>11/13/24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685C9-A3F4-0D47-8F7D-36E6433E1872}" type="slidenum">
              <a:rPr lang="en-US" smtClean="0"/>
              <a:t>‹#›</a:t>
            </a:fld>
            <a:endParaRPr lang="en-US"/>
          </a:p>
        </p:txBody>
      </p:sp>
    </p:spTree>
    <p:extLst>
      <p:ext uri="{BB962C8B-B14F-4D97-AF65-F5344CB8AC3E}">
        <p14:creationId xmlns:p14="http://schemas.microsoft.com/office/powerpoint/2010/main" val="3515024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15513" y="486833"/>
            <a:ext cx="2957513"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42976" y="486833"/>
            <a:ext cx="8701088"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329A5F-AC28-084A-B83F-D259FAAB4E7C}" type="datetimeFigureOut">
              <a:rPr lang="en-US" smtClean="0"/>
              <a:t>11/13/24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685C9-A3F4-0D47-8F7D-36E6433E1872}" type="slidenum">
              <a:rPr lang="en-US" smtClean="0"/>
              <a:t>‹#›</a:t>
            </a:fld>
            <a:endParaRPr lang="en-US"/>
          </a:p>
        </p:txBody>
      </p:sp>
    </p:spTree>
    <p:extLst>
      <p:ext uri="{BB962C8B-B14F-4D97-AF65-F5344CB8AC3E}">
        <p14:creationId xmlns:p14="http://schemas.microsoft.com/office/powerpoint/2010/main" val="1904459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2975" y="486835"/>
            <a:ext cx="1183005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42975" y="2434167"/>
            <a:ext cx="1183005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42975" y="8475136"/>
            <a:ext cx="3086100" cy="486833"/>
          </a:xfrm>
          <a:prstGeom prst="rect">
            <a:avLst/>
          </a:prstGeom>
        </p:spPr>
        <p:txBody>
          <a:bodyPr vert="horz" lIns="91440" tIns="45720" rIns="91440" bIns="45720" rtlCol="0" anchor="ctr"/>
          <a:lstStyle>
            <a:lvl1pPr algn="l">
              <a:defRPr sz="1600">
                <a:solidFill>
                  <a:schemeClr val="tx1">
                    <a:tint val="82000"/>
                  </a:schemeClr>
                </a:solidFill>
              </a:defRPr>
            </a:lvl1pPr>
          </a:lstStyle>
          <a:p>
            <a:fld id="{25329A5F-AC28-084A-B83F-D259FAAB4E7C}" type="datetimeFigureOut">
              <a:rPr lang="en-US" smtClean="0"/>
              <a:t>11/13/24</a:t>
            </a:fld>
            <a:endParaRPr lang="en-US"/>
          </a:p>
        </p:txBody>
      </p:sp>
      <p:sp>
        <p:nvSpPr>
          <p:cNvPr id="5" name="Footer Placeholder 4"/>
          <p:cNvSpPr>
            <a:spLocks noGrp="1"/>
          </p:cNvSpPr>
          <p:nvPr>
            <p:ph type="ftr" sz="quarter" idx="3"/>
          </p:nvPr>
        </p:nvSpPr>
        <p:spPr>
          <a:xfrm>
            <a:off x="4543425" y="8475136"/>
            <a:ext cx="4629150" cy="486833"/>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686925" y="8475136"/>
            <a:ext cx="3086100" cy="486833"/>
          </a:xfrm>
          <a:prstGeom prst="rect">
            <a:avLst/>
          </a:prstGeom>
        </p:spPr>
        <p:txBody>
          <a:bodyPr vert="horz" lIns="91440" tIns="45720" rIns="91440" bIns="45720" rtlCol="0" anchor="ctr"/>
          <a:lstStyle>
            <a:lvl1pPr algn="r">
              <a:defRPr sz="1600">
                <a:solidFill>
                  <a:schemeClr val="tx1">
                    <a:tint val="82000"/>
                  </a:schemeClr>
                </a:solidFill>
              </a:defRPr>
            </a:lvl1pPr>
          </a:lstStyle>
          <a:p>
            <a:fld id="{39D685C9-A3F4-0D47-8F7D-36E6433E1872}" type="slidenum">
              <a:rPr lang="en-US" smtClean="0"/>
              <a:t>‹#›</a:t>
            </a:fld>
            <a:endParaRPr lang="en-US"/>
          </a:p>
        </p:txBody>
      </p:sp>
    </p:spTree>
    <p:extLst>
      <p:ext uri="{BB962C8B-B14F-4D97-AF65-F5344CB8AC3E}">
        <p14:creationId xmlns:p14="http://schemas.microsoft.com/office/powerpoint/2010/main" val="11642669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3576127-7A5B-4937-9012-449146F7FE34}"/>
              </a:ext>
            </a:extLst>
          </p:cNvPr>
          <p:cNvGrpSpPr/>
          <p:nvPr/>
        </p:nvGrpSpPr>
        <p:grpSpPr>
          <a:xfrm>
            <a:off x="1106094" y="531917"/>
            <a:ext cx="11093269" cy="7885776"/>
            <a:chOff x="1106094" y="531917"/>
            <a:chExt cx="11093269" cy="7885776"/>
          </a:xfrm>
        </p:grpSpPr>
        <p:sp>
          <p:nvSpPr>
            <p:cNvPr id="4" name="Rectangle 3">
              <a:extLst>
                <a:ext uri="{FF2B5EF4-FFF2-40B4-BE49-F238E27FC236}">
                  <a16:creationId xmlns:a16="http://schemas.microsoft.com/office/drawing/2014/main" id="{D1B25B96-4C7C-27F1-0240-8AA17E2A0039}"/>
                </a:ext>
              </a:extLst>
            </p:cNvPr>
            <p:cNvSpPr/>
            <p:nvPr/>
          </p:nvSpPr>
          <p:spPr>
            <a:xfrm>
              <a:off x="5267787" y="531917"/>
              <a:ext cx="1763486"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Records Identified Through Database Searching</a:t>
              </a:r>
            </a:p>
            <a:p>
              <a:pPr algn="ctr"/>
              <a:r>
                <a:rPr lang="en-US" sz="1400" dirty="0">
                  <a:solidFill>
                    <a:sysClr val="windowText" lastClr="000000"/>
                  </a:solidFill>
                </a:rPr>
                <a:t>N = 863</a:t>
              </a:r>
            </a:p>
          </p:txBody>
        </p:sp>
        <p:sp>
          <p:nvSpPr>
            <p:cNvPr id="5" name="Rectangle 4">
              <a:extLst>
                <a:ext uri="{FF2B5EF4-FFF2-40B4-BE49-F238E27FC236}">
                  <a16:creationId xmlns:a16="http://schemas.microsoft.com/office/drawing/2014/main" id="{B0C478F3-E2AB-F67B-6705-26A26E31E7A9}"/>
                </a:ext>
              </a:extLst>
            </p:cNvPr>
            <p:cNvSpPr/>
            <p:nvPr/>
          </p:nvSpPr>
          <p:spPr>
            <a:xfrm>
              <a:off x="5268688" y="1974508"/>
              <a:ext cx="1763485"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Records Screened  via Title &amp; Abstract</a:t>
              </a:r>
            </a:p>
            <a:p>
              <a:pPr algn="ctr"/>
              <a:r>
                <a:rPr lang="en-US" sz="1400" dirty="0">
                  <a:solidFill>
                    <a:sysClr val="windowText" lastClr="000000"/>
                  </a:solidFill>
                </a:rPr>
                <a:t>N = 547</a:t>
              </a:r>
            </a:p>
          </p:txBody>
        </p:sp>
        <p:cxnSp>
          <p:nvCxnSpPr>
            <p:cNvPr id="7" name="Straight Arrow Connector 6">
              <a:extLst>
                <a:ext uri="{FF2B5EF4-FFF2-40B4-BE49-F238E27FC236}">
                  <a16:creationId xmlns:a16="http://schemas.microsoft.com/office/drawing/2014/main" id="{2205764D-505A-49D2-27A7-B18E0515CE14}"/>
                </a:ext>
              </a:extLst>
            </p:cNvPr>
            <p:cNvCxnSpPr>
              <a:stCxn id="4" idx="2"/>
              <a:endCxn id="5" idx="0"/>
            </p:cNvCxnSpPr>
            <p:nvPr/>
          </p:nvCxnSpPr>
          <p:spPr>
            <a:xfrm>
              <a:off x="6149532" y="1500745"/>
              <a:ext cx="899" cy="47376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603F8330-CFAC-2858-2545-EB8640B7CFC4}"/>
                </a:ext>
              </a:extLst>
            </p:cNvPr>
            <p:cNvSpPr/>
            <p:nvPr/>
          </p:nvSpPr>
          <p:spPr>
            <a:xfrm>
              <a:off x="7421820" y="1198826"/>
              <a:ext cx="2296288"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Records Excluded, N = 316</a:t>
              </a:r>
            </a:p>
            <a:p>
              <a:pPr marL="171450" indent="-171450">
                <a:buFont typeface="Arial" panose="020B0604020202020204" pitchFamily="34" charset="0"/>
                <a:buChar char="•"/>
              </a:pPr>
              <a:r>
                <a:rPr lang="en-US" sz="1050" dirty="0">
                  <a:solidFill>
                    <a:sysClr val="windowText" lastClr="000000"/>
                  </a:solidFill>
                </a:rPr>
                <a:t>Animal Studies, n = 19</a:t>
              </a:r>
            </a:p>
            <a:p>
              <a:pPr marL="171450" indent="-171450">
                <a:buFont typeface="Arial" panose="020B0604020202020204" pitchFamily="34" charset="0"/>
                <a:buChar char="•"/>
              </a:pPr>
              <a:r>
                <a:rPr lang="en-US" sz="1050" dirty="0">
                  <a:solidFill>
                    <a:sysClr val="windowText" lastClr="000000"/>
                  </a:solidFill>
                </a:rPr>
                <a:t>Studies focusing on ASD, n = 33</a:t>
              </a:r>
            </a:p>
            <a:p>
              <a:pPr marL="171450" indent="-171450">
                <a:buFont typeface="Arial" panose="020B0604020202020204" pitchFamily="34" charset="0"/>
                <a:buChar char="•"/>
              </a:pPr>
              <a:r>
                <a:rPr lang="en-US" sz="1050" dirty="0">
                  <a:solidFill>
                    <a:sysClr val="windowText" lastClr="000000"/>
                  </a:solidFill>
                </a:rPr>
                <a:t>Qualitative Research, n = 264</a:t>
              </a:r>
            </a:p>
          </p:txBody>
        </p:sp>
        <p:cxnSp>
          <p:nvCxnSpPr>
            <p:cNvPr id="9" name="Straight Arrow Connector 8">
              <a:extLst>
                <a:ext uri="{FF2B5EF4-FFF2-40B4-BE49-F238E27FC236}">
                  <a16:creationId xmlns:a16="http://schemas.microsoft.com/office/drawing/2014/main" id="{8C62E21B-4AC9-8560-1E0B-A228CC6104A5}"/>
                </a:ext>
              </a:extLst>
            </p:cNvPr>
            <p:cNvCxnSpPr>
              <a:cxnSpLocks/>
              <a:endCxn id="8" idx="1"/>
            </p:cNvCxnSpPr>
            <p:nvPr/>
          </p:nvCxnSpPr>
          <p:spPr>
            <a:xfrm>
              <a:off x="6149530" y="1683240"/>
              <a:ext cx="127229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 name="Rectangle 1">
              <a:extLst>
                <a:ext uri="{FF2B5EF4-FFF2-40B4-BE49-F238E27FC236}">
                  <a16:creationId xmlns:a16="http://schemas.microsoft.com/office/drawing/2014/main" id="{F99BB3F2-7FCB-B7FF-6869-2DFF3642D167}"/>
                </a:ext>
              </a:extLst>
            </p:cNvPr>
            <p:cNvSpPr/>
            <p:nvPr/>
          </p:nvSpPr>
          <p:spPr>
            <a:xfrm>
              <a:off x="5268688" y="3417101"/>
              <a:ext cx="1763485"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Full Text Assessed &amp; Coded </a:t>
              </a:r>
            </a:p>
            <a:p>
              <a:pPr algn="ctr"/>
              <a:r>
                <a:rPr lang="en-US" sz="1400" dirty="0">
                  <a:solidFill>
                    <a:sysClr val="windowText" lastClr="000000"/>
                  </a:solidFill>
                </a:rPr>
                <a:t>N = 192</a:t>
              </a:r>
            </a:p>
          </p:txBody>
        </p:sp>
        <p:sp>
          <p:nvSpPr>
            <p:cNvPr id="3" name="Rectangle 2">
              <a:extLst>
                <a:ext uri="{FF2B5EF4-FFF2-40B4-BE49-F238E27FC236}">
                  <a16:creationId xmlns:a16="http://schemas.microsoft.com/office/drawing/2014/main" id="{9E80BA54-E407-47D6-D94F-B57C3A137AEE}"/>
                </a:ext>
              </a:extLst>
            </p:cNvPr>
            <p:cNvSpPr/>
            <p:nvPr/>
          </p:nvSpPr>
          <p:spPr>
            <a:xfrm>
              <a:off x="7421820" y="2602073"/>
              <a:ext cx="2296282" cy="118990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Records Excluded, N = 366</a:t>
              </a:r>
            </a:p>
            <a:p>
              <a:pPr marL="171450" indent="-171450">
                <a:buFont typeface="Arial" panose="020B0604020202020204" pitchFamily="34" charset="0"/>
                <a:buChar char="•"/>
              </a:pPr>
              <a:r>
                <a:rPr lang="en-US" sz="1050" dirty="0">
                  <a:solidFill>
                    <a:sysClr val="windowText" lastClr="000000"/>
                  </a:solidFill>
                </a:rPr>
                <a:t>Not Measuring Environmental Unpredictability, n = 336</a:t>
              </a:r>
            </a:p>
            <a:p>
              <a:pPr marL="171450" indent="-171450">
                <a:buFont typeface="Arial" panose="020B0604020202020204" pitchFamily="34" charset="0"/>
                <a:buChar char="•"/>
              </a:pPr>
              <a:r>
                <a:rPr lang="en-US" sz="1050" dirty="0">
                  <a:solidFill>
                    <a:sysClr val="windowText" lastClr="000000"/>
                  </a:solidFill>
                </a:rPr>
                <a:t>Not Focusing on Children, n = 74</a:t>
              </a:r>
            </a:p>
            <a:p>
              <a:pPr marL="171450" indent="-171450">
                <a:buFont typeface="Arial" panose="020B0604020202020204" pitchFamily="34" charset="0"/>
                <a:buChar char="•"/>
              </a:pPr>
              <a:r>
                <a:rPr lang="en-US" sz="1050" dirty="0">
                  <a:solidFill>
                    <a:sysClr val="windowText" lastClr="000000"/>
                  </a:solidFill>
                </a:rPr>
                <a:t>Not Quantitative Empirical Paper, n = 14</a:t>
              </a:r>
            </a:p>
          </p:txBody>
        </p:sp>
        <p:sp>
          <p:nvSpPr>
            <p:cNvPr id="6" name="Rectangle 5">
              <a:extLst>
                <a:ext uri="{FF2B5EF4-FFF2-40B4-BE49-F238E27FC236}">
                  <a16:creationId xmlns:a16="http://schemas.microsoft.com/office/drawing/2014/main" id="{4A4E02E5-596E-204B-7010-67EDC81B51DF}"/>
                </a:ext>
              </a:extLst>
            </p:cNvPr>
            <p:cNvSpPr/>
            <p:nvPr/>
          </p:nvSpPr>
          <p:spPr>
            <a:xfrm>
              <a:off x="3114658" y="2700152"/>
              <a:ext cx="1763485"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Records Identified Through Other Sources</a:t>
              </a:r>
            </a:p>
            <a:p>
              <a:pPr algn="ctr"/>
              <a:r>
                <a:rPr lang="en-US" sz="1400" dirty="0">
                  <a:solidFill>
                    <a:sysClr val="windowText" lastClr="000000"/>
                  </a:solidFill>
                </a:rPr>
                <a:t>N = 11</a:t>
              </a:r>
            </a:p>
          </p:txBody>
        </p:sp>
        <p:cxnSp>
          <p:nvCxnSpPr>
            <p:cNvPr id="10" name="Straight Arrow Connector 9">
              <a:extLst>
                <a:ext uri="{FF2B5EF4-FFF2-40B4-BE49-F238E27FC236}">
                  <a16:creationId xmlns:a16="http://schemas.microsoft.com/office/drawing/2014/main" id="{3EDB064F-BBD7-5190-DFF3-FFD4DBED8F22}"/>
                </a:ext>
              </a:extLst>
            </p:cNvPr>
            <p:cNvCxnSpPr>
              <a:cxnSpLocks/>
              <a:stCxn id="6" idx="3"/>
            </p:cNvCxnSpPr>
            <p:nvPr/>
          </p:nvCxnSpPr>
          <p:spPr>
            <a:xfrm>
              <a:off x="4878143" y="3184563"/>
              <a:ext cx="127139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F3D775A5-6FB6-FE24-7FE0-7307D3CBC5B5}"/>
                </a:ext>
              </a:extLst>
            </p:cNvPr>
            <p:cNvCxnSpPr>
              <a:cxnSpLocks/>
              <a:endCxn id="3" idx="1"/>
            </p:cNvCxnSpPr>
            <p:nvPr/>
          </p:nvCxnSpPr>
          <p:spPr>
            <a:xfrm>
              <a:off x="6149530" y="3197024"/>
              <a:ext cx="127229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7A61A02C-D409-8738-8414-983B2A436BA1}"/>
                </a:ext>
              </a:extLst>
            </p:cNvPr>
            <p:cNvCxnSpPr>
              <a:cxnSpLocks/>
              <a:stCxn id="5" idx="2"/>
              <a:endCxn id="2" idx="0"/>
            </p:cNvCxnSpPr>
            <p:nvPr/>
          </p:nvCxnSpPr>
          <p:spPr>
            <a:xfrm flipH="1">
              <a:off x="6150427" y="2943340"/>
              <a:ext cx="2" cy="47376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6" name="Rectangle 45">
              <a:extLst>
                <a:ext uri="{FF2B5EF4-FFF2-40B4-BE49-F238E27FC236}">
                  <a16:creationId xmlns:a16="http://schemas.microsoft.com/office/drawing/2014/main" id="{14845F3B-7273-71E8-6D7B-6650946765A8}"/>
                </a:ext>
              </a:extLst>
            </p:cNvPr>
            <p:cNvSpPr/>
            <p:nvPr/>
          </p:nvSpPr>
          <p:spPr>
            <a:xfrm>
              <a:off x="10789589" y="6477037"/>
              <a:ext cx="1409774"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Tasks or Experiments</a:t>
              </a:r>
            </a:p>
            <a:p>
              <a:pPr algn="ctr"/>
              <a:r>
                <a:rPr lang="en-US" sz="1400" dirty="0">
                  <a:solidFill>
                    <a:sysClr val="windowText" lastClr="000000"/>
                  </a:solidFill>
                </a:rPr>
                <a:t>N = 11</a:t>
              </a:r>
            </a:p>
          </p:txBody>
        </p:sp>
        <p:sp>
          <p:nvSpPr>
            <p:cNvPr id="47" name="Rectangle 46">
              <a:extLst>
                <a:ext uri="{FF2B5EF4-FFF2-40B4-BE49-F238E27FC236}">
                  <a16:creationId xmlns:a16="http://schemas.microsoft.com/office/drawing/2014/main" id="{452E1D80-5F16-5754-C67B-13F631CD969C}"/>
                </a:ext>
              </a:extLst>
            </p:cNvPr>
            <p:cNvSpPr/>
            <p:nvPr/>
          </p:nvSpPr>
          <p:spPr>
            <a:xfrm>
              <a:off x="8704218" y="6477036"/>
              <a:ext cx="1974122"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Intolerance of/Beliefs About Unpredictability (Questionnaires)</a:t>
              </a:r>
            </a:p>
            <a:p>
              <a:pPr algn="ctr"/>
              <a:r>
                <a:rPr lang="en-US" sz="1400" dirty="0">
                  <a:solidFill>
                    <a:sysClr val="windowText" lastClr="000000"/>
                  </a:solidFill>
                </a:rPr>
                <a:t> N = 13</a:t>
              </a:r>
            </a:p>
          </p:txBody>
        </p:sp>
        <p:sp>
          <p:nvSpPr>
            <p:cNvPr id="48" name="Rectangle 47">
              <a:extLst>
                <a:ext uri="{FF2B5EF4-FFF2-40B4-BE49-F238E27FC236}">
                  <a16:creationId xmlns:a16="http://schemas.microsoft.com/office/drawing/2014/main" id="{1A0053AF-5D5B-D82E-138C-BD0319398868}"/>
                </a:ext>
              </a:extLst>
            </p:cNvPr>
            <p:cNvSpPr/>
            <p:nvPr/>
          </p:nvSpPr>
          <p:spPr>
            <a:xfrm>
              <a:off x="1106094" y="6477038"/>
              <a:ext cx="1409774"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Observational Data</a:t>
              </a:r>
            </a:p>
            <a:p>
              <a:pPr algn="ctr"/>
              <a:r>
                <a:rPr lang="en-US" sz="1400" dirty="0">
                  <a:solidFill>
                    <a:sysClr val="windowText" lastClr="000000"/>
                  </a:solidFill>
                </a:rPr>
                <a:t>N = 20</a:t>
              </a:r>
            </a:p>
          </p:txBody>
        </p:sp>
        <p:sp>
          <p:nvSpPr>
            <p:cNvPr id="49" name="Rectangle 48">
              <a:extLst>
                <a:ext uri="{FF2B5EF4-FFF2-40B4-BE49-F238E27FC236}">
                  <a16:creationId xmlns:a16="http://schemas.microsoft.com/office/drawing/2014/main" id="{946850F1-5F66-F28D-5B63-3B9917A855E6}"/>
                </a:ext>
              </a:extLst>
            </p:cNvPr>
            <p:cNvSpPr/>
            <p:nvPr/>
          </p:nvSpPr>
          <p:spPr>
            <a:xfrm>
              <a:off x="2620845" y="6477036"/>
              <a:ext cx="1409774" cy="9688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Computation or Statistical Modeling</a:t>
              </a:r>
            </a:p>
            <a:p>
              <a:pPr algn="ctr"/>
              <a:r>
                <a:rPr lang="en-US" sz="1400" dirty="0">
                  <a:solidFill>
                    <a:sysClr val="windowText" lastClr="000000"/>
                  </a:solidFill>
                </a:rPr>
                <a:t>N = 33</a:t>
              </a:r>
            </a:p>
          </p:txBody>
        </p:sp>
        <p:sp>
          <p:nvSpPr>
            <p:cNvPr id="50" name="Rectangle 49">
              <a:extLst>
                <a:ext uri="{FF2B5EF4-FFF2-40B4-BE49-F238E27FC236}">
                  <a16:creationId xmlns:a16="http://schemas.microsoft.com/office/drawing/2014/main" id="{F9CA9900-1B14-2F87-55AE-02AA0358585E}"/>
                </a:ext>
              </a:extLst>
            </p:cNvPr>
            <p:cNvSpPr/>
            <p:nvPr/>
          </p:nvSpPr>
          <p:spPr>
            <a:xfrm>
              <a:off x="5639615" y="6477037"/>
              <a:ext cx="1409773"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Defined by Sample Characteristics</a:t>
              </a:r>
            </a:p>
            <a:p>
              <a:pPr algn="ctr"/>
              <a:r>
                <a:rPr lang="en-US" sz="1400" dirty="0">
                  <a:solidFill>
                    <a:sysClr val="windowText" lastClr="000000"/>
                  </a:solidFill>
                </a:rPr>
                <a:t>N = 2</a:t>
              </a:r>
            </a:p>
          </p:txBody>
        </p:sp>
        <p:sp>
          <p:nvSpPr>
            <p:cNvPr id="52" name="TextBox 51">
              <a:extLst>
                <a:ext uri="{FF2B5EF4-FFF2-40B4-BE49-F238E27FC236}">
                  <a16:creationId xmlns:a16="http://schemas.microsoft.com/office/drawing/2014/main" id="{9079E3F3-F735-841E-9D8F-5B151C2B0FFC}"/>
                </a:ext>
              </a:extLst>
            </p:cNvPr>
            <p:cNvSpPr txBox="1"/>
            <p:nvPr/>
          </p:nvSpPr>
          <p:spPr>
            <a:xfrm>
              <a:off x="1804709" y="7470749"/>
              <a:ext cx="567784" cy="261610"/>
            </a:xfrm>
            <a:prstGeom prst="rect">
              <a:avLst/>
            </a:prstGeom>
            <a:noFill/>
          </p:spPr>
          <p:txBody>
            <a:bodyPr wrap="none" rtlCol="0">
              <a:spAutoFit/>
            </a:bodyPr>
            <a:lstStyle/>
            <a:p>
              <a:r>
                <a:rPr lang="en-US" sz="1100" dirty="0"/>
                <a:t>N = 19</a:t>
              </a:r>
            </a:p>
          </p:txBody>
        </p:sp>
        <p:sp>
          <p:nvSpPr>
            <p:cNvPr id="53" name="Rectangle 52">
              <a:extLst>
                <a:ext uri="{FF2B5EF4-FFF2-40B4-BE49-F238E27FC236}">
                  <a16:creationId xmlns:a16="http://schemas.microsoft.com/office/drawing/2014/main" id="{D414274D-5BA5-00DB-CBDD-4632FC86FE9D}"/>
                </a:ext>
              </a:extLst>
            </p:cNvPr>
            <p:cNvSpPr/>
            <p:nvPr/>
          </p:nvSpPr>
          <p:spPr>
            <a:xfrm>
              <a:off x="4132416" y="6477037"/>
              <a:ext cx="1409773"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Record Data</a:t>
              </a:r>
            </a:p>
            <a:p>
              <a:pPr algn="ctr"/>
              <a:r>
                <a:rPr lang="en-US" sz="1400" dirty="0">
                  <a:solidFill>
                    <a:sysClr val="windowText" lastClr="000000"/>
                  </a:solidFill>
                </a:rPr>
                <a:t>N = 17</a:t>
              </a:r>
            </a:p>
          </p:txBody>
        </p:sp>
        <p:cxnSp>
          <p:nvCxnSpPr>
            <p:cNvPr id="69" name="Elbow Connector 68">
              <a:extLst>
                <a:ext uri="{FF2B5EF4-FFF2-40B4-BE49-F238E27FC236}">
                  <a16:creationId xmlns:a16="http://schemas.microsoft.com/office/drawing/2014/main" id="{7F552F37-5203-70D9-DB57-4EB292A126EA}"/>
                </a:ext>
              </a:extLst>
            </p:cNvPr>
            <p:cNvCxnSpPr>
              <a:cxnSpLocks/>
            </p:cNvCxnSpPr>
            <p:nvPr/>
          </p:nvCxnSpPr>
          <p:spPr>
            <a:xfrm rot="5400000" flipH="1" flipV="1">
              <a:off x="4895971" y="4372658"/>
              <a:ext cx="5099" cy="6187617"/>
            </a:xfrm>
            <a:prstGeom prst="bentConnector3">
              <a:avLst>
                <a:gd name="adj1" fmla="val -1762014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1E5FAA9E-5BA3-CCEA-E043-1603499CA674}"/>
                </a:ext>
              </a:extLst>
            </p:cNvPr>
            <p:cNvSpPr txBox="1"/>
            <p:nvPr/>
          </p:nvSpPr>
          <p:spPr>
            <a:xfrm>
              <a:off x="1804712" y="8156083"/>
              <a:ext cx="492443" cy="261610"/>
            </a:xfrm>
            <a:prstGeom prst="rect">
              <a:avLst/>
            </a:prstGeom>
            <a:noFill/>
          </p:spPr>
          <p:txBody>
            <a:bodyPr wrap="square" rtlCol="0">
              <a:spAutoFit/>
            </a:bodyPr>
            <a:lstStyle/>
            <a:p>
              <a:r>
                <a:rPr lang="en-US" sz="1100" dirty="0"/>
                <a:t>N = 6</a:t>
              </a:r>
            </a:p>
          </p:txBody>
        </p:sp>
        <p:sp>
          <p:nvSpPr>
            <p:cNvPr id="79" name="TextBox 78">
              <a:extLst>
                <a:ext uri="{FF2B5EF4-FFF2-40B4-BE49-F238E27FC236}">
                  <a16:creationId xmlns:a16="http://schemas.microsoft.com/office/drawing/2014/main" id="{B093F8C3-FADB-7D65-2A1F-2DE96E8FFF57}"/>
                </a:ext>
              </a:extLst>
            </p:cNvPr>
            <p:cNvSpPr txBox="1"/>
            <p:nvPr/>
          </p:nvSpPr>
          <p:spPr>
            <a:xfrm>
              <a:off x="3290066" y="7446598"/>
              <a:ext cx="492443" cy="261610"/>
            </a:xfrm>
            <a:prstGeom prst="rect">
              <a:avLst/>
            </a:prstGeom>
            <a:noFill/>
          </p:spPr>
          <p:txBody>
            <a:bodyPr wrap="none" rtlCol="0">
              <a:spAutoFit/>
            </a:bodyPr>
            <a:lstStyle/>
            <a:p>
              <a:r>
                <a:rPr lang="en-US" sz="1100" dirty="0"/>
                <a:t>N = 1</a:t>
              </a:r>
            </a:p>
          </p:txBody>
        </p:sp>
        <p:cxnSp>
          <p:nvCxnSpPr>
            <p:cNvPr id="91" name="Elbow Connector 90">
              <a:extLst>
                <a:ext uri="{FF2B5EF4-FFF2-40B4-BE49-F238E27FC236}">
                  <a16:creationId xmlns:a16="http://schemas.microsoft.com/office/drawing/2014/main" id="{663F47EB-D80C-497F-7AC5-ED6B86A2CFD0}"/>
                </a:ext>
              </a:extLst>
            </p:cNvPr>
            <p:cNvCxnSpPr>
              <a:cxnSpLocks/>
            </p:cNvCxnSpPr>
            <p:nvPr/>
          </p:nvCxnSpPr>
          <p:spPr>
            <a:xfrm>
              <a:off x="1804709" y="7448864"/>
              <a:ext cx="1255276" cy="3800"/>
            </a:xfrm>
            <a:prstGeom prst="bentConnector4">
              <a:avLst>
                <a:gd name="adj1" fmla="val 71"/>
                <a:gd name="adj2" fmla="val 6115789"/>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95" name="Elbow Connector 94">
              <a:extLst>
                <a:ext uri="{FF2B5EF4-FFF2-40B4-BE49-F238E27FC236}">
                  <a16:creationId xmlns:a16="http://schemas.microsoft.com/office/drawing/2014/main" id="{3FCC1DF0-4DD3-CDB8-32A5-30989A9BB9DA}"/>
                </a:ext>
              </a:extLst>
            </p:cNvPr>
            <p:cNvCxnSpPr>
              <a:cxnSpLocks/>
            </p:cNvCxnSpPr>
            <p:nvPr/>
          </p:nvCxnSpPr>
          <p:spPr>
            <a:xfrm>
              <a:off x="3287799" y="7449978"/>
              <a:ext cx="1255276" cy="3800"/>
            </a:xfrm>
            <a:prstGeom prst="bentConnector4">
              <a:avLst>
                <a:gd name="adj1" fmla="val 71"/>
                <a:gd name="adj2" fmla="val 6115789"/>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50" name="Elbow Connector 149">
              <a:extLst>
                <a:ext uri="{FF2B5EF4-FFF2-40B4-BE49-F238E27FC236}">
                  <a16:creationId xmlns:a16="http://schemas.microsoft.com/office/drawing/2014/main" id="{32BD16A7-F8E1-E3BB-D395-AD6FECC742BB}"/>
                </a:ext>
              </a:extLst>
            </p:cNvPr>
            <p:cNvCxnSpPr>
              <a:cxnSpLocks/>
            </p:cNvCxnSpPr>
            <p:nvPr/>
          </p:nvCxnSpPr>
          <p:spPr>
            <a:xfrm rot="5400000" flipH="1" flipV="1">
              <a:off x="5549523" y="5194336"/>
              <a:ext cx="5099" cy="4544252"/>
            </a:xfrm>
            <a:prstGeom prst="bentConnector3">
              <a:avLst>
                <a:gd name="adj1" fmla="val -1115599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52" name="TextBox 151">
              <a:extLst>
                <a:ext uri="{FF2B5EF4-FFF2-40B4-BE49-F238E27FC236}">
                  <a16:creationId xmlns:a16="http://schemas.microsoft.com/office/drawing/2014/main" id="{3DC48709-64AC-CFF5-4134-890A7DEC300E}"/>
                </a:ext>
              </a:extLst>
            </p:cNvPr>
            <p:cNvSpPr txBox="1"/>
            <p:nvPr/>
          </p:nvSpPr>
          <p:spPr>
            <a:xfrm>
              <a:off x="3280696" y="7761442"/>
              <a:ext cx="622559" cy="261610"/>
            </a:xfrm>
            <a:prstGeom prst="rect">
              <a:avLst/>
            </a:prstGeom>
            <a:noFill/>
          </p:spPr>
          <p:txBody>
            <a:bodyPr wrap="square" rtlCol="0">
              <a:spAutoFit/>
            </a:bodyPr>
            <a:lstStyle/>
            <a:p>
              <a:r>
                <a:rPr lang="en-US" sz="1100" dirty="0"/>
                <a:t>N = 19</a:t>
              </a:r>
            </a:p>
          </p:txBody>
        </p:sp>
        <p:sp>
          <p:nvSpPr>
            <p:cNvPr id="153" name="TextBox 152">
              <a:extLst>
                <a:ext uri="{FF2B5EF4-FFF2-40B4-BE49-F238E27FC236}">
                  <a16:creationId xmlns:a16="http://schemas.microsoft.com/office/drawing/2014/main" id="{9F0B7B07-B8AE-0DFA-A8C2-F661FD635DC8}"/>
                </a:ext>
              </a:extLst>
            </p:cNvPr>
            <p:cNvSpPr txBox="1"/>
            <p:nvPr/>
          </p:nvSpPr>
          <p:spPr>
            <a:xfrm>
              <a:off x="4842522" y="7462458"/>
              <a:ext cx="492443" cy="261610"/>
            </a:xfrm>
            <a:prstGeom prst="rect">
              <a:avLst/>
            </a:prstGeom>
            <a:noFill/>
          </p:spPr>
          <p:txBody>
            <a:bodyPr wrap="none" rtlCol="0">
              <a:spAutoFit/>
            </a:bodyPr>
            <a:lstStyle/>
            <a:p>
              <a:r>
                <a:rPr lang="en-US" sz="1100" dirty="0"/>
                <a:t>N = 5</a:t>
              </a:r>
            </a:p>
          </p:txBody>
        </p:sp>
        <p:sp>
          <p:nvSpPr>
            <p:cNvPr id="11" name="Rectangle 10">
              <a:extLst>
                <a:ext uri="{FF2B5EF4-FFF2-40B4-BE49-F238E27FC236}">
                  <a16:creationId xmlns:a16="http://schemas.microsoft.com/office/drawing/2014/main" id="{9BA28204-F8BA-ACA2-B9A8-456560C5BF38}"/>
                </a:ext>
              </a:extLst>
            </p:cNvPr>
            <p:cNvSpPr/>
            <p:nvPr/>
          </p:nvSpPr>
          <p:spPr>
            <a:xfrm>
              <a:off x="8805008" y="4852712"/>
              <a:ext cx="1763485"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Other Relevant Papers Included in Discussions</a:t>
              </a:r>
            </a:p>
            <a:p>
              <a:pPr algn="ctr"/>
              <a:r>
                <a:rPr lang="en-US" sz="1400" dirty="0">
                  <a:solidFill>
                    <a:sysClr val="windowText" lastClr="000000"/>
                  </a:solidFill>
                </a:rPr>
                <a:t>N = 24</a:t>
              </a:r>
            </a:p>
          </p:txBody>
        </p:sp>
        <p:sp>
          <p:nvSpPr>
            <p:cNvPr id="12" name="Rectangle 11">
              <a:extLst>
                <a:ext uri="{FF2B5EF4-FFF2-40B4-BE49-F238E27FC236}">
                  <a16:creationId xmlns:a16="http://schemas.microsoft.com/office/drawing/2014/main" id="{F6A223B4-8579-C06B-6DD1-65D1FCA01922}"/>
                </a:ext>
              </a:extLst>
            </p:cNvPr>
            <p:cNvSpPr/>
            <p:nvPr/>
          </p:nvSpPr>
          <p:spPr>
            <a:xfrm>
              <a:off x="3661335" y="4834873"/>
              <a:ext cx="1763485" cy="9688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Focused Papers for Core Discussions</a:t>
              </a:r>
            </a:p>
            <a:p>
              <a:pPr algn="ctr"/>
              <a:r>
                <a:rPr lang="en-US" sz="1400" dirty="0">
                  <a:solidFill>
                    <a:sysClr val="windowText" lastClr="000000"/>
                  </a:solidFill>
                </a:rPr>
                <a:t>N = 168</a:t>
              </a:r>
            </a:p>
          </p:txBody>
        </p:sp>
        <p:cxnSp>
          <p:nvCxnSpPr>
            <p:cNvPr id="21" name="Elbow Connector 20">
              <a:extLst>
                <a:ext uri="{FF2B5EF4-FFF2-40B4-BE49-F238E27FC236}">
                  <a16:creationId xmlns:a16="http://schemas.microsoft.com/office/drawing/2014/main" id="{07862BEE-BE1E-564B-901C-EEB2ABA24743}"/>
                </a:ext>
              </a:extLst>
            </p:cNvPr>
            <p:cNvCxnSpPr>
              <a:stCxn id="11" idx="2"/>
              <a:endCxn id="46" idx="0"/>
            </p:cNvCxnSpPr>
            <p:nvPr/>
          </p:nvCxnSpPr>
          <p:spPr>
            <a:xfrm rot="16200000" flipH="1">
              <a:off x="10262864" y="5245422"/>
              <a:ext cx="655496" cy="1807728"/>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22" name="Elbow Connector 21">
              <a:extLst>
                <a:ext uri="{FF2B5EF4-FFF2-40B4-BE49-F238E27FC236}">
                  <a16:creationId xmlns:a16="http://schemas.microsoft.com/office/drawing/2014/main" id="{6E3C9FDF-55EE-D277-6645-AC34F56AD84F}"/>
                </a:ext>
              </a:extLst>
            </p:cNvPr>
            <p:cNvCxnSpPr>
              <a:cxnSpLocks/>
              <a:stCxn id="11" idx="2"/>
              <a:endCxn id="47" idx="0"/>
            </p:cNvCxnSpPr>
            <p:nvPr/>
          </p:nvCxnSpPr>
          <p:spPr>
            <a:xfrm rot="16200000" flipH="1">
              <a:off x="9361269" y="6147022"/>
              <a:ext cx="655495" cy="4531"/>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26" name="Elbow Connector 25">
              <a:extLst>
                <a:ext uri="{FF2B5EF4-FFF2-40B4-BE49-F238E27FC236}">
                  <a16:creationId xmlns:a16="http://schemas.microsoft.com/office/drawing/2014/main" id="{CCAE3CC6-AA35-D0AE-4C14-7D37E9BE6808}"/>
                </a:ext>
              </a:extLst>
            </p:cNvPr>
            <p:cNvCxnSpPr>
              <a:cxnSpLocks/>
              <a:stCxn id="2" idx="2"/>
              <a:endCxn id="12" idx="0"/>
            </p:cNvCxnSpPr>
            <p:nvPr/>
          </p:nvCxnSpPr>
          <p:spPr>
            <a:xfrm rot="5400000">
              <a:off x="5122284" y="3806725"/>
              <a:ext cx="448943" cy="1607353"/>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29" name="Elbow Connector 28">
              <a:extLst>
                <a:ext uri="{FF2B5EF4-FFF2-40B4-BE49-F238E27FC236}">
                  <a16:creationId xmlns:a16="http://schemas.microsoft.com/office/drawing/2014/main" id="{FCF39F4C-F3B1-1353-68B3-349D7D597B6C}"/>
                </a:ext>
              </a:extLst>
            </p:cNvPr>
            <p:cNvCxnSpPr>
              <a:cxnSpLocks/>
              <a:stCxn id="2" idx="2"/>
              <a:endCxn id="11" idx="0"/>
            </p:cNvCxnSpPr>
            <p:nvPr/>
          </p:nvCxnSpPr>
          <p:spPr>
            <a:xfrm rot="16200000" flipH="1">
              <a:off x="7685197" y="2851158"/>
              <a:ext cx="466782" cy="3536320"/>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43" name="Elbow Connector 42">
              <a:extLst>
                <a:ext uri="{FF2B5EF4-FFF2-40B4-BE49-F238E27FC236}">
                  <a16:creationId xmlns:a16="http://schemas.microsoft.com/office/drawing/2014/main" id="{FF14E275-7821-B9E3-5105-A394BE1B6065}"/>
                </a:ext>
              </a:extLst>
            </p:cNvPr>
            <p:cNvCxnSpPr>
              <a:cxnSpLocks/>
              <a:stCxn id="12" idx="2"/>
              <a:endCxn id="50" idx="0"/>
            </p:cNvCxnSpPr>
            <p:nvPr/>
          </p:nvCxnSpPr>
          <p:spPr>
            <a:xfrm rot="16200000" flipH="1">
              <a:off x="5107123" y="5239654"/>
              <a:ext cx="673335" cy="1801424"/>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51" name="Rectangle 50">
              <a:extLst>
                <a:ext uri="{FF2B5EF4-FFF2-40B4-BE49-F238E27FC236}">
                  <a16:creationId xmlns:a16="http://schemas.microsoft.com/office/drawing/2014/main" id="{B10389C3-E55A-CDAC-7547-8013FF988342}"/>
                </a:ext>
              </a:extLst>
            </p:cNvPr>
            <p:cNvSpPr/>
            <p:nvPr/>
          </p:nvSpPr>
          <p:spPr>
            <a:xfrm>
              <a:off x="7160187" y="6471695"/>
              <a:ext cx="1409774" cy="968829"/>
            </a:xfrm>
            <a:prstGeom prst="rect">
              <a:avLst/>
            </a:prstGeom>
            <a:solidFill>
              <a:schemeClr val="bg1">
                <a:alpha val="79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Questionnaires, Surveys, or Interviews</a:t>
              </a:r>
            </a:p>
            <a:p>
              <a:pPr algn="ctr"/>
              <a:r>
                <a:rPr lang="en-US" sz="1400" dirty="0">
                  <a:solidFill>
                    <a:sysClr val="windowText" lastClr="000000"/>
                  </a:solidFill>
                </a:rPr>
                <a:t>N = 140</a:t>
              </a:r>
            </a:p>
          </p:txBody>
        </p:sp>
        <p:cxnSp>
          <p:nvCxnSpPr>
            <p:cNvPr id="55" name="Elbow Connector 54">
              <a:extLst>
                <a:ext uri="{FF2B5EF4-FFF2-40B4-BE49-F238E27FC236}">
                  <a16:creationId xmlns:a16="http://schemas.microsoft.com/office/drawing/2014/main" id="{3D388083-1652-C72D-B998-08BD79A9AC11}"/>
                </a:ext>
              </a:extLst>
            </p:cNvPr>
            <p:cNvCxnSpPr>
              <a:cxnSpLocks/>
              <a:stCxn id="12" idx="2"/>
              <a:endCxn id="51" idx="0"/>
            </p:cNvCxnSpPr>
            <p:nvPr/>
          </p:nvCxnSpPr>
          <p:spPr>
            <a:xfrm rot="16200000" flipH="1">
              <a:off x="5870081" y="4476698"/>
              <a:ext cx="667993" cy="3321999"/>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58" name="Elbow Connector 57">
              <a:extLst>
                <a:ext uri="{FF2B5EF4-FFF2-40B4-BE49-F238E27FC236}">
                  <a16:creationId xmlns:a16="http://schemas.microsoft.com/office/drawing/2014/main" id="{FE524F7D-3592-F63C-282C-62F1DBAD4184}"/>
                </a:ext>
              </a:extLst>
            </p:cNvPr>
            <p:cNvCxnSpPr>
              <a:cxnSpLocks/>
              <a:stCxn id="12" idx="2"/>
              <a:endCxn id="49" idx="0"/>
            </p:cNvCxnSpPr>
            <p:nvPr/>
          </p:nvCxnSpPr>
          <p:spPr>
            <a:xfrm rot="5400000">
              <a:off x="3597739" y="5531699"/>
              <a:ext cx="673337" cy="1217343"/>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61" name="Elbow Connector 60">
              <a:extLst>
                <a:ext uri="{FF2B5EF4-FFF2-40B4-BE49-F238E27FC236}">
                  <a16:creationId xmlns:a16="http://schemas.microsoft.com/office/drawing/2014/main" id="{7C3554BA-9754-191A-B498-D442BE60F5E8}"/>
                </a:ext>
              </a:extLst>
            </p:cNvPr>
            <p:cNvCxnSpPr>
              <a:cxnSpLocks/>
              <a:stCxn id="12" idx="2"/>
              <a:endCxn id="48" idx="0"/>
            </p:cNvCxnSpPr>
            <p:nvPr/>
          </p:nvCxnSpPr>
          <p:spPr>
            <a:xfrm rot="5400000">
              <a:off x="2840360" y="4774320"/>
              <a:ext cx="673336" cy="2732094"/>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64" name="Elbow Connector 63">
              <a:extLst>
                <a:ext uri="{FF2B5EF4-FFF2-40B4-BE49-F238E27FC236}">
                  <a16:creationId xmlns:a16="http://schemas.microsoft.com/office/drawing/2014/main" id="{F6FCE927-03A9-35AE-8D51-E3360C487AD2}"/>
                </a:ext>
              </a:extLst>
            </p:cNvPr>
            <p:cNvCxnSpPr>
              <a:cxnSpLocks/>
              <a:stCxn id="12" idx="2"/>
              <a:endCxn id="53" idx="0"/>
            </p:cNvCxnSpPr>
            <p:nvPr/>
          </p:nvCxnSpPr>
          <p:spPr>
            <a:xfrm rot="16200000" flipH="1">
              <a:off x="4353523" y="5993256"/>
              <a:ext cx="673335" cy="294225"/>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20" name="Elbow Connector 19">
              <a:extLst>
                <a:ext uri="{FF2B5EF4-FFF2-40B4-BE49-F238E27FC236}">
                  <a16:creationId xmlns:a16="http://schemas.microsoft.com/office/drawing/2014/main" id="{D45B2DE7-D71F-1D89-DA18-3712A08A5D77}"/>
                </a:ext>
              </a:extLst>
            </p:cNvPr>
            <p:cNvCxnSpPr>
              <a:cxnSpLocks/>
            </p:cNvCxnSpPr>
            <p:nvPr/>
          </p:nvCxnSpPr>
          <p:spPr>
            <a:xfrm rot="16200000" flipH="1">
              <a:off x="6197727" y="6081521"/>
              <a:ext cx="12700" cy="2729547"/>
            </a:xfrm>
            <a:prstGeom prst="bentConnector3">
              <a:avLst>
                <a:gd name="adj1" fmla="val 2515866"/>
              </a:avLst>
            </a:prstGeom>
            <a:ln>
              <a:headEnd type="triangle"/>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429434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8CF37CE-9A62-9540-3831-28D22C49337A}"/>
              </a:ext>
            </a:extLst>
          </p:cNvPr>
          <p:cNvGrpSpPr/>
          <p:nvPr/>
        </p:nvGrpSpPr>
        <p:grpSpPr>
          <a:xfrm>
            <a:off x="92046" y="151036"/>
            <a:ext cx="13386965" cy="9004087"/>
            <a:chOff x="92046" y="151036"/>
            <a:chExt cx="13386965" cy="9004087"/>
          </a:xfrm>
        </p:grpSpPr>
        <p:sp>
          <p:nvSpPr>
            <p:cNvPr id="6" name="TextBox 5">
              <a:extLst>
                <a:ext uri="{FF2B5EF4-FFF2-40B4-BE49-F238E27FC236}">
                  <a16:creationId xmlns:a16="http://schemas.microsoft.com/office/drawing/2014/main" id="{1F71AB45-BD1F-6A84-7091-29461797FF22}"/>
                </a:ext>
              </a:extLst>
            </p:cNvPr>
            <p:cNvSpPr txBox="1"/>
            <p:nvPr/>
          </p:nvSpPr>
          <p:spPr>
            <a:xfrm>
              <a:off x="1493292" y="731130"/>
              <a:ext cx="1499128"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Within-Individual</a:t>
              </a:r>
            </a:p>
          </p:txBody>
        </p:sp>
        <p:sp>
          <p:nvSpPr>
            <p:cNvPr id="7" name="TextBox 6">
              <a:extLst>
                <a:ext uri="{FF2B5EF4-FFF2-40B4-BE49-F238E27FC236}">
                  <a16:creationId xmlns:a16="http://schemas.microsoft.com/office/drawing/2014/main" id="{1B30A1D3-180F-6075-1812-2D1C7227A22D}"/>
                </a:ext>
              </a:extLst>
            </p:cNvPr>
            <p:cNvSpPr txBox="1"/>
            <p:nvPr/>
          </p:nvSpPr>
          <p:spPr>
            <a:xfrm>
              <a:off x="3638431" y="623408"/>
              <a:ext cx="1797288"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Proximal: </a:t>
              </a:r>
            </a:p>
            <a:p>
              <a:pPr algn="ctr"/>
              <a:r>
                <a:rPr lang="en-US" sz="1400" dirty="0">
                  <a:latin typeface="Arial" panose="020B0604020202020204" pitchFamily="34" charset="0"/>
                  <a:cs typeface="Arial" panose="020B0604020202020204" pitchFamily="34" charset="0"/>
                </a:rPr>
                <a:t>Parenting Behaviors</a:t>
              </a:r>
            </a:p>
          </p:txBody>
        </p:sp>
        <p:sp>
          <p:nvSpPr>
            <p:cNvPr id="8" name="TextBox 7">
              <a:extLst>
                <a:ext uri="{FF2B5EF4-FFF2-40B4-BE49-F238E27FC236}">
                  <a16:creationId xmlns:a16="http://schemas.microsoft.com/office/drawing/2014/main" id="{B1D5E31B-3FA9-CD7B-3F9C-A39421429A35}"/>
                </a:ext>
              </a:extLst>
            </p:cNvPr>
            <p:cNvSpPr txBox="1"/>
            <p:nvPr/>
          </p:nvSpPr>
          <p:spPr>
            <a:xfrm>
              <a:off x="11252359" y="838851"/>
              <a:ext cx="1390124"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Distal Contexts</a:t>
              </a:r>
            </a:p>
          </p:txBody>
        </p:sp>
        <p:cxnSp>
          <p:nvCxnSpPr>
            <p:cNvPr id="12" name="Straight Arrow Connector 11">
              <a:extLst>
                <a:ext uri="{FF2B5EF4-FFF2-40B4-BE49-F238E27FC236}">
                  <a16:creationId xmlns:a16="http://schemas.microsoft.com/office/drawing/2014/main" id="{95E1AF15-9AF3-3636-84F1-C681FD972161}"/>
                </a:ext>
              </a:extLst>
            </p:cNvPr>
            <p:cNvCxnSpPr>
              <a:cxnSpLocks/>
            </p:cNvCxnSpPr>
            <p:nvPr/>
          </p:nvCxnSpPr>
          <p:spPr>
            <a:xfrm>
              <a:off x="1240220" y="6343115"/>
              <a:ext cx="120185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81EE71E3-E36B-64BE-6209-9C22B8475DF5}"/>
                </a:ext>
              </a:extLst>
            </p:cNvPr>
            <p:cNvCxnSpPr>
              <a:cxnSpLocks/>
            </p:cNvCxnSpPr>
            <p:nvPr/>
          </p:nvCxnSpPr>
          <p:spPr>
            <a:xfrm flipV="1">
              <a:off x="1240220" y="3462832"/>
              <a:ext cx="12018580" cy="341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43" name="Group 42">
              <a:extLst>
                <a:ext uri="{FF2B5EF4-FFF2-40B4-BE49-F238E27FC236}">
                  <a16:creationId xmlns:a16="http://schemas.microsoft.com/office/drawing/2014/main" id="{433F8DD8-49D8-F480-3DCC-155A4AF86D11}"/>
                </a:ext>
              </a:extLst>
            </p:cNvPr>
            <p:cNvGrpSpPr/>
            <p:nvPr/>
          </p:nvGrpSpPr>
          <p:grpSpPr>
            <a:xfrm>
              <a:off x="3243784" y="1088388"/>
              <a:ext cx="126254" cy="6999115"/>
              <a:chOff x="3243784" y="1088388"/>
              <a:chExt cx="126254" cy="6999115"/>
            </a:xfrm>
          </p:grpSpPr>
          <p:cxnSp>
            <p:nvCxnSpPr>
              <p:cNvPr id="9" name="Straight Arrow Connector 8">
                <a:extLst>
                  <a:ext uri="{FF2B5EF4-FFF2-40B4-BE49-F238E27FC236}">
                    <a16:creationId xmlns:a16="http://schemas.microsoft.com/office/drawing/2014/main" id="{C384E68F-4B39-8ADD-FBB4-4B51A54880AA}"/>
                  </a:ext>
                </a:extLst>
              </p:cNvPr>
              <p:cNvCxnSpPr>
                <a:cxnSpLocks/>
              </p:cNvCxnSpPr>
              <p:nvPr/>
            </p:nvCxnSpPr>
            <p:spPr>
              <a:xfrm flipV="1">
                <a:off x="3290841" y="1088388"/>
                <a:ext cx="0" cy="69991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Oval 12">
                <a:extLst>
                  <a:ext uri="{FF2B5EF4-FFF2-40B4-BE49-F238E27FC236}">
                    <a16:creationId xmlns:a16="http://schemas.microsoft.com/office/drawing/2014/main" id="{4E8F8611-3DD7-1F05-332A-66F69AE37596}"/>
                  </a:ext>
                </a:extLst>
              </p:cNvPr>
              <p:cNvSpPr/>
              <p:nvPr/>
            </p:nvSpPr>
            <p:spPr>
              <a:xfrm>
                <a:off x="3243784" y="6290562"/>
                <a:ext cx="115614" cy="11561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400">
                  <a:latin typeface="Arial" panose="020B0604020202020204" pitchFamily="34" charset="0"/>
                  <a:cs typeface="Arial" panose="020B0604020202020204" pitchFamily="34" charset="0"/>
                </a:endParaRPr>
              </a:p>
            </p:txBody>
          </p:sp>
          <p:sp>
            <p:nvSpPr>
              <p:cNvPr id="17" name="Oval 16">
                <a:extLst>
                  <a:ext uri="{FF2B5EF4-FFF2-40B4-BE49-F238E27FC236}">
                    <a16:creationId xmlns:a16="http://schemas.microsoft.com/office/drawing/2014/main" id="{18252675-DBFF-2F85-C2E9-38706B821298}"/>
                  </a:ext>
                </a:extLst>
              </p:cNvPr>
              <p:cNvSpPr/>
              <p:nvPr/>
            </p:nvSpPr>
            <p:spPr>
              <a:xfrm>
                <a:off x="3254424" y="3444442"/>
                <a:ext cx="115614" cy="11561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400">
                  <a:latin typeface="Arial" panose="020B0604020202020204" pitchFamily="34" charset="0"/>
                  <a:cs typeface="Arial" panose="020B0604020202020204" pitchFamily="34" charset="0"/>
                </a:endParaRPr>
              </a:p>
            </p:txBody>
          </p:sp>
        </p:grpSp>
        <p:grpSp>
          <p:nvGrpSpPr>
            <p:cNvPr id="49" name="Group 48">
              <a:extLst>
                <a:ext uri="{FF2B5EF4-FFF2-40B4-BE49-F238E27FC236}">
                  <a16:creationId xmlns:a16="http://schemas.microsoft.com/office/drawing/2014/main" id="{6606E7A1-B4C4-62ED-C9F0-21577034C4FE}"/>
                </a:ext>
              </a:extLst>
            </p:cNvPr>
            <p:cNvGrpSpPr/>
            <p:nvPr/>
          </p:nvGrpSpPr>
          <p:grpSpPr>
            <a:xfrm>
              <a:off x="8094062" y="1088388"/>
              <a:ext cx="115614" cy="6999115"/>
              <a:chOff x="7772401" y="1088388"/>
              <a:chExt cx="115614" cy="6999115"/>
            </a:xfrm>
          </p:grpSpPr>
          <p:cxnSp>
            <p:nvCxnSpPr>
              <p:cNvPr id="10" name="Straight Arrow Connector 9">
                <a:extLst>
                  <a:ext uri="{FF2B5EF4-FFF2-40B4-BE49-F238E27FC236}">
                    <a16:creationId xmlns:a16="http://schemas.microsoft.com/office/drawing/2014/main" id="{F05887BC-41F2-AEA3-342F-5874773C9712}"/>
                  </a:ext>
                </a:extLst>
              </p:cNvPr>
              <p:cNvCxnSpPr>
                <a:cxnSpLocks/>
              </p:cNvCxnSpPr>
              <p:nvPr/>
            </p:nvCxnSpPr>
            <p:spPr>
              <a:xfrm flipV="1">
                <a:off x="7830210" y="1088388"/>
                <a:ext cx="0" cy="69991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Oval 13">
                <a:extLst>
                  <a:ext uri="{FF2B5EF4-FFF2-40B4-BE49-F238E27FC236}">
                    <a16:creationId xmlns:a16="http://schemas.microsoft.com/office/drawing/2014/main" id="{43B950F3-D438-4BC6-5DF2-3EE0CA9519EF}"/>
                  </a:ext>
                </a:extLst>
              </p:cNvPr>
              <p:cNvSpPr/>
              <p:nvPr/>
            </p:nvSpPr>
            <p:spPr>
              <a:xfrm>
                <a:off x="7772401" y="6285308"/>
                <a:ext cx="115614" cy="11561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400">
                  <a:latin typeface="Arial" panose="020B0604020202020204" pitchFamily="34" charset="0"/>
                  <a:cs typeface="Arial" panose="020B0604020202020204" pitchFamily="34" charset="0"/>
                </a:endParaRPr>
              </a:p>
            </p:txBody>
          </p:sp>
          <p:sp>
            <p:nvSpPr>
              <p:cNvPr id="18" name="Oval 17">
                <a:extLst>
                  <a:ext uri="{FF2B5EF4-FFF2-40B4-BE49-F238E27FC236}">
                    <a16:creationId xmlns:a16="http://schemas.microsoft.com/office/drawing/2014/main" id="{325BADFF-E93E-FE74-7921-68DBECE6CCE9}"/>
                  </a:ext>
                </a:extLst>
              </p:cNvPr>
              <p:cNvSpPr/>
              <p:nvPr/>
            </p:nvSpPr>
            <p:spPr>
              <a:xfrm>
                <a:off x="7772401" y="3439188"/>
                <a:ext cx="115614" cy="11561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400">
                  <a:latin typeface="Arial" panose="020B0604020202020204" pitchFamily="34" charset="0"/>
                  <a:cs typeface="Arial" panose="020B0604020202020204" pitchFamily="34" charset="0"/>
                </a:endParaRPr>
              </a:p>
            </p:txBody>
          </p:sp>
        </p:grpSp>
        <p:sp>
          <p:nvSpPr>
            <p:cNvPr id="19" name="Oval 18">
              <a:extLst>
                <a:ext uri="{FF2B5EF4-FFF2-40B4-BE49-F238E27FC236}">
                  <a16:creationId xmlns:a16="http://schemas.microsoft.com/office/drawing/2014/main" id="{9BAB0A9F-86D4-53F3-56F6-8A4A8462635E}"/>
                </a:ext>
              </a:extLst>
            </p:cNvPr>
            <p:cNvSpPr/>
            <p:nvPr/>
          </p:nvSpPr>
          <p:spPr>
            <a:xfrm>
              <a:off x="1170873" y="3708475"/>
              <a:ext cx="1223402" cy="1223402"/>
            </a:xfrm>
            <a:prstGeom prst="ellipse">
              <a:avLst/>
            </a:prstGeom>
            <a:solidFill>
              <a:schemeClr val="bg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Beliefs/</a:t>
              </a:r>
            </a:p>
            <a:p>
              <a:pPr algn="ctr"/>
              <a:r>
                <a:rPr lang="en-US" sz="1000" dirty="0">
                  <a:solidFill>
                    <a:schemeClr val="tx1"/>
                  </a:solidFill>
                  <a:latin typeface="Arial" panose="020B0604020202020204" pitchFamily="34" charset="0"/>
                  <a:cs typeface="Arial" panose="020B0604020202020204" pitchFamily="34" charset="0"/>
                </a:rPr>
                <a:t>Perceptions on unpredictability</a:t>
              </a:r>
            </a:p>
          </p:txBody>
        </p:sp>
        <p:sp>
          <p:nvSpPr>
            <p:cNvPr id="20" name="TextBox 19">
              <a:extLst>
                <a:ext uri="{FF2B5EF4-FFF2-40B4-BE49-F238E27FC236}">
                  <a16:creationId xmlns:a16="http://schemas.microsoft.com/office/drawing/2014/main" id="{85005FA4-6025-A96E-800B-E98940B17F40}"/>
                </a:ext>
              </a:extLst>
            </p:cNvPr>
            <p:cNvSpPr txBox="1"/>
            <p:nvPr/>
          </p:nvSpPr>
          <p:spPr>
            <a:xfrm rot="16200000">
              <a:off x="40858" y="6953699"/>
              <a:ext cx="1744388"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Micro-Scale: </a:t>
              </a:r>
            </a:p>
            <a:p>
              <a:pPr algn="ctr"/>
              <a:r>
                <a:rPr lang="en-US" sz="1400" dirty="0">
                  <a:latin typeface="Arial" panose="020B0604020202020204" pitchFamily="34" charset="0"/>
                  <a:cs typeface="Arial" panose="020B0604020202020204" pitchFamily="34" charset="0"/>
                </a:rPr>
                <a:t>Moment-to-moment</a:t>
              </a:r>
            </a:p>
          </p:txBody>
        </p:sp>
        <p:sp>
          <p:nvSpPr>
            <p:cNvPr id="21" name="TextBox 20">
              <a:extLst>
                <a:ext uri="{FF2B5EF4-FFF2-40B4-BE49-F238E27FC236}">
                  <a16:creationId xmlns:a16="http://schemas.microsoft.com/office/drawing/2014/main" id="{8E1E0B12-3E5A-DE0D-C370-1284A4BFB9F1}"/>
                </a:ext>
              </a:extLst>
            </p:cNvPr>
            <p:cNvSpPr txBox="1"/>
            <p:nvPr/>
          </p:nvSpPr>
          <p:spPr>
            <a:xfrm rot="16200000">
              <a:off x="-313187" y="4638462"/>
              <a:ext cx="2444900"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Meso-Scale: </a:t>
              </a:r>
            </a:p>
            <a:p>
              <a:pPr algn="ctr"/>
              <a:r>
                <a:rPr lang="en-US" sz="1400" dirty="0">
                  <a:latin typeface="Arial" panose="020B0604020202020204" pitchFamily="34" charset="0"/>
                  <a:cs typeface="Arial" panose="020B0604020202020204" pitchFamily="34" charset="0"/>
                </a:rPr>
                <a:t>Across Contexts/Day-to-Day</a:t>
              </a:r>
            </a:p>
          </p:txBody>
        </p:sp>
        <p:sp>
          <p:nvSpPr>
            <p:cNvPr id="23" name="TextBox 22">
              <a:extLst>
                <a:ext uri="{FF2B5EF4-FFF2-40B4-BE49-F238E27FC236}">
                  <a16:creationId xmlns:a16="http://schemas.microsoft.com/office/drawing/2014/main" id="{E72354D2-A65A-7D6A-7193-97AB46790B89}"/>
                </a:ext>
              </a:extLst>
            </p:cNvPr>
            <p:cNvSpPr txBox="1"/>
            <p:nvPr/>
          </p:nvSpPr>
          <p:spPr>
            <a:xfrm rot="16200000">
              <a:off x="50311" y="1940749"/>
              <a:ext cx="1856598"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Macro-Scale: </a:t>
              </a:r>
            </a:p>
            <a:p>
              <a:pPr algn="ctr"/>
              <a:r>
                <a:rPr lang="en-US" sz="1400" dirty="0">
                  <a:latin typeface="Arial" panose="020B0604020202020204" pitchFamily="34" charset="0"/>
                  <a:cs typeface="Arial" panose="020B0604020202020204" pitchFamily="34" charset="0"/>
                </a:rPr>
                <a:t>Across months/years</a:t>
              </a:r>
            </a:p>
          </p:txBody>
        </p:sp>
        <p:sp>
          <p:nvSpPr>
            <p:cNvPr id="24" name="TextBox 23">
              <a:extLst>
                <a:ext uri="{FF2B5EF4-FFF2-40B4-BE49-F238E27FC236}">
                  <a16:creationId xmlns:a16="http://schemas.microsoft.com/office/drawing/2014/main" id="{B17D95ED-D080-39DF-4265-2870666629BC}"/>
                </a:ext>
              </a:extLst>
            </p:cNvPr>
            <p:cNvSpPr txBox="1"/>
            <p:nvPr/>
          </p:nvSpPr>
          <p:spPr>
            <a:xfrm>
              <a:off x="5782675" y="151036"/>
              <a:ext cx="2095445" cy="369332"/>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Ecological Context</a:t>
              </a:r>
            </a:p>
          </p:txBody>
        </p:sp>
        <p:sp>
          <p:nvSpPr>
            <p:cNvPr id="25" name="TextBox 24">
              <a:extLst>
                <a:ext uri="{FF2B5EF4-FFF2-40B4-BE49-F238E27FC236}">
                  <a16:creationId xmlns:a16="http://schemas.microsoft.com/office/drawing/2014/main" id="{36B94511-CDE5-A1F1-ADBF-00588740FA75}"/>
                </a:ext>
              </a:extLst>
            </p:cNvPr>
            <p:cNvSpPr txBox="1"/>
            <p:nvPr/>
          </p:nvSpPr>
          <p:spPr>
            <a:xfrm rot="16200000">
              <a:off x="-394818" y="4715406"/>
              <a:ext cx="1343060" cy="369332"/>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Time-Scale</a:t>
              </a:r>
            </a:p>
          </p:txBody>
        </p:sp>
        <p:grpSp>
          <p:nvGrpSpPr>
            <p:cNvPr id="44" name="Group 43">
              <a:extLst>
                <a:ext uri="{FF2B5EF4-FFF2-40B4-BE49-F238E27FC236}">
                  <a16:creationId xmlns:a16="http://schemas.microsoft.com/office/drawing/2014/main" id="{28F37581-0CFB-C9D2-A52C-8935A5310874}"/>
                </a:ext>
              </a:extLst>
            </p:cNvPr>
            <p:cNvGrpSpPr/>
            <p:nvPr/>
          </p:nvGrpSpPr>
          <p:grpSpPr>
            <a:xfrm>
              <a:off x="5542578" y="1088388"/>
              <a:ext cx="126254" cy="6999115"/>
              <a:chOff x="3148087" y="1088388"/>
              <a:chExt cx="126254" cy="6999115"/>
            </a:xfrm>
          </p:grpSpPr>
          <p:cxnSp>
            <p:nvCxnSpPr>
              <p:cNvPr id="45" name="Straight Arrow Connector 44">
                <a:extLst>
                  <a:ext uri="{FF2B5EF4-FFF2-40B4-BE49-F238E27FC236}">
                    <a16:creationId xmlns:a16="http://schemas.microsoft.com/office/drawing/2014/main" id="{ABFB78A1-D6DC-7BBA-0797-04A83A8820BE}"/>
                  </a:ext>
                </a:extLst>
              </p:cNvPr>
              <p:cNvCxnSpPr>
                <a:cxnSpLocks/>
              </p:cNvCxnSpPr>
              <p:nvPr/>
            </p:nvCxnSpPr>
            <p:spPr>
              <a:xfrm flipV="1">
                <a:off x="3195144" y="1088388"/>
                <a:ext cx="0" cy="69991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Oval 45">
                <a:extLst>
                  <a:ext uri="{FF2B5EF4-FFF2-40B4-BE49-F238E27FC236}">
                    <a16:creationId xmlns:a16="http://schemas.microsoft.com/office/drawing/2014/main" id="{5DDC78C1-7C54-48FC-F1D0-786A6EAF5590}"/>
                  </a:ext>
                </a:extLst>
              </p:cNvPr>
              <p:cNvSpPr/>
              <p:nvPr/>
            </p:nvSpPr>
            <p:spPr>
              <a:xfrm>
                <a:off x="3148087" y="6290562"/>
                <a:ext cx="115614" cy="11561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400">
                  <a:latin typeface="Arial" panose="020B0604020202020204" pitchFamily="34" charset="0"/>
                  <a:cs typeface="Arial" panose="020B0604020202020204" pitchFamily="34" charset="0"/>
                </a:endParaRPr>
              </a:p>
            </p:txBody>
          </p:sp>
          <p:sp>
            <p:nvSpPr>
              <p:cNvPr id="47" name="Oval 46">
                <a:extLst>
                  <a:ext uri="{FF2B5EF4-FFF2-40B4-BE49-F238E27FC236}">
                    <a16:creationId xmlns:a16="http://schemas.microsoft.com/office/drawing/2014/main" id="{C740B602-5433-0FB3-5467-8DAF5159FB05}"/>
                  </a:ext>
                </a:extLst>
              </p:cNvPr>
              <p:cNvSpPr/>
              <p:nvPr/>
            </p:nvSpPr>
            <p:spPr>
              <a:xfrm>
                <a:off x="3158727" y="3444442"/>
                <a:ext cx="115614" cy="11561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400">
                  <a:latin typeface="Arial" panose="020B0604020202020204" pitchFamily="34" charset="0"/>
                  <a:cs typeface="Arial" panose="020B0604020202020204" pitchFamily="34" charset="0"/>
                </a:endParaRPr>
              </a:p>
            </p:txBody>
          </p:sp>
        </p:grpSp>
        <p:sp>
          <p:nvSpPr>
            <p:cNvPr id="48" name="TextBox 47">
              <a:extLst>
                <a:ext uri="{FF2B5EF4-FFF2-40B4-BE49-F238E27FC236}">
                  <a16:creationId xmlns:a16="http://schemas.microsoft.com/office/drawing/2014/main" id="{842AE39E-5DE6-054C-BC8F-433A65139002}"/>
                </a:ext>
              </a:extLst>
            </p:cNvPr>
            <p:cNvSpPr txBox="1"/>
            <p:nvPr/>
          </p:nvSpPr>
          <p:spPr>
            <a:xfrm>
              <a:off x="5826510" y="645224"/>
              <a:ext cx="1766830"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Proximal: </a:t>
              </a:r>
            </a:p>
            <a:p>
              <a:pPr algn="ctr"/>
              <a:r>
                <a:rPr lang="en-US" sz="1400" dirty="0">
                  <a:latin typeface="Arial" panose="020B0604020202020204" pitchFamily="34" charset="0"/>
                  <a:cs typeface="Arial" panose="020B0604020202020204" pitchFamily="34" charset="0"/>
                </a:rPr>
                <a:t>Family Environment</a:t>
              </a:r>
            </a:p>
          </p:txBody>
        </p:sp>
        <p:grpSp>
          <p:nvGrpSpPr>
            <p:cNvPr id="50" name="Group 49">
              <a:extLst>
                <a:ext uri="{FF2B5EF4-FFF2-40B4-BE49-F238E27FC236}">
                  <a16:creationId xmlns:a16="http://schemas.microsoft.com/office/drawing/2014/main" id="{51202ADF-08C1-82CC-1F59-50788A87CC18}"/>
                </a:ext>
              </a:extLst>
            </p:cNvPr>
            <p:cNvGrpSpPr/>
            <p:nvPr/>
          </p:nvGrpSpPr>
          <p:grpSpPr>
            <a:xfrm>
              <a:off x="10628876" y="1064694"/>
              <a:ext cx="115614" cy="7022809"/>
              <a:chOff x="7772401" y="1088388"/>
              <a:chExt cx="115614" cy="7022809"/>
            </a:xfrm>
          </p:grpSpPr>
          <p:cxnSp>
            <p:nvCxnSpPr>
              <p:cNvPr id="51" name="Straight Arrow Connector 50">
                <a:extLst>
                  <a:ext uri="{FF2B5EF4-FFF2-40B4-BE49-F238E27FC236}">
                    <a16:creationId xmlns:a16="http://schemas.microsoft.com/office/drawing/2014/main" id="{678CCED7-C685-4BDD-C3FA-D87FE20687CD}"/>
                  </a:ext>
                </a:extLst>
              </p:cNvPr>
              <p:cNvCxnSpPr>
                <a:cxnSpLocks/>
              </p:cNvCxnSpPr>
              <p:nvPr/>
            </p:nvCxnSpPr>
            <p:spPr>
              <a:xfrm flipV="1">
                <a:off x="7830208" y="1088388"/>
                <a:ext cx="2" cy="70228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Oval 51">
                <a:extLst>
                  <a:ext uri="{FF2B5EF4-FFF2-40B4-BE49-F238E27FC236}">
                    <a16:creationId xmlns:a16="http://schemas.microsoft.com/office/drawing/2014/main" id="{C5709845-F75F-6080-EC0E-6DE61E0B1E1C}"/>
                  </a:ext>
                </a:extLst>
              </p:cNvPr>
              <p:cNvSpPr/>
              <p:nvPr/>
            </p:nvSpPr>
            <p:spPr>
              <a:xfrm>
                <a:off x="7772401" y="6285308"/>
                <a:ext cx="115614" cy="11561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400">
                  <a:latin typeface="Arial" panose="020B0604020202020204" pitchFamily="34" charset="0"/>
                  <a:cs typeface="Arial" panose="020B0604020202020204" pitchFamily="34" charset="0"/>
                </a:endParaRPr>
              </a:p>
            </p:txBody>
          </p:sp>
          <p:sp>
            <p:nvSpPr>
              <p:cNvPr id="53" name="Oval 52">
                <a:extLst>
                  <a:ext uri="{FF2B5EF4-FFF2-40B4-BE49-F238E27FC236}">
                    <a16:creationId xmlns:a16="http://schemas.microsoft.com/office/drawing/2014/main" id="{3E091DE7-0354-DCC2-A4F5-B6A1E7B34DA7}"/>
                  </a:ext>
                </a:extLst>
              </p:cNvPr>
              <p:cNvSpPr/>
              <p:nvPr/>
            </p:nvSpPr>
            <p:spPr>
              <a:xfrm>
                <a:off x="7772401" y="3439188"/>
                <a:ext cx="115614" cy="11561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400">
                  <a:latin typeface="Arial" panose="020B0604020202020204" pitchFamily="34" charset="0"/>
                  <a:cs typeface="Arial" panose="020B0604020202020204" pitchFamily="34" charset="0"/>
                </a:endParaRPr>
              </a:p>
            </p:txBody>
          </p:sp>
        </p:grpSp>
        <p:sp>
          <p:nvSpPr>
            <p:cNvPr id="54" name="TextBox 53">
              <a:extLst>
                <a:ext uri="{FF2B5EF4-FFF2-40B4-BE49-F238E27FC236}">
                  <a16:creationId xmlns:a16="http://schemas.microsoft.com/office/drawing/2014/main" id="{7D79F336-7C05-9AB8-AFFD-794AAEC3D11E}"/>
                </a:ext>
              </a:extLst>
            </p:cNvPr>
            <p:cNvSpPr txBox="1"/>
            <p:nvPr/>
          </p:nvSpPr>
          <p:spPr>
            <a:xfrm>
              <a:off x="8478951" y="645224"/>
              <a:ext cx="2087431" cy="738664"/>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Proximal: </a:t>
              </a:r>
            </a:p>
            <a:p>
              <a:pPr algn="ctr"/>
              <a:r>
                <a:rPr lang="en-US" sz="1400" dirty="0">
                  <a:latin typeface="Arial" panose="020B0604020202020204" pitchFamily="34" charset="0"/>
                  <a:cs typeface="Arial" panose="020B0604020202020204" pitchFamily="34" charset="0"/>
                </a:rPr>
                <a:t>ECE/School/Friendship/</a:t>
              </a:r>
            </a:p>
            <a:p>
              <a:pPr algn="ctr"/>
              <a:r>
                <a:rPr lang="en-US" sz="1400" dirty="0">
                  <a:latin typeface="Arial" panose="020B0604020202020204" pitchFamily="34" charset="0"/>
                  <a:cs typeface="Arial" panose="020B0604020202020204" pitchFamily="34" charset="0"/>
                </a:rPr>
                <a:t>Service Contexts</a:t>
              </a:r>
            </a:p>
          </p:txBody>
        </p:sp>
        <p:sp>
          <p:nvSpPr>
            <p:cNvPr id="58" name="Rounded Rectangle 57">
              <a:extLst>
                <a:ext uri="{FF2B5EF4-FFF2-40B4-BE49-F238E27FC236}">
                  <a16:creationId xmlns:a16="http://schemas.microsoft.com/office/drawing/2014/main" id="{C5A6363E-A594-9472-DBF8-3421826BCE60}"/>
                </a:ext>
              </a:extLst>
            </p:cNvPr>
            <p:cNvSpPr/>
            <p:nvPr/>
          </p:nvSpPr>
          <p:spPr>
            <a:xfrm>
              <a:off x="2622755" y="5208534"/>
              <a:ext cx="6042777" cy="840716"/>
            </a:xfrm>
            <a:prstGeom prst="roundRect">
              <a:avLst>
                <a:gd name="adj" fmla="val 50000"/>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latin typeface="Arial" panose="020B0604020202020204" pitchFamily="34" charset="0"/>
                  <a:cs typeface="Arial" panose="020B0604020202020204" pitchFamily="34" charset="0"/>
                </a:rPr>
                <a:t>Routines</a:t>
              </a:r>
            </a:p>
          </p:txBody>
        </p:sp>
        <p:sp>
          <p:nvSpPr>
            <p:cNvPr id="59" name="Oval 58">
              <a:extLst>
                <a:ext uri="{FF2B5EF4-FFF2-40B4-BE49-F238E27FC236}">
                  <a16:creationId xmlns:a16="http://schemas.microsoft.com/office/drawing/2014/main" id="{841B5E37-472C-BF85-0E5D-D9E5D07437D2}"/>
                </a:ext>
              </a:extLst>
            </p:cNvPr>
            <p:cNvSpPr/>
            <p:nvPr/>
          </p:nvSpPr>
          <p:spPr>
            <a:xfrm>
              <a:off x="3340753" y="2929650"/>
              <a:ext cx="1118694" cy="1118694"/>
            </a:xfrm>
            <a:prstGeom prst="ellipse">
              <a:avLst/>
            </a:prstGeom>
            <a:solidFill>
              <a:schemeClr val="bg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Parenting behavior inconsistency</a:t>
              </a:r>
            </a:p>
          </p:txBody>
        </p:sp>
        <p:sp>
          <p:nvSpPr>
            <p:cNvPr id="60" name="Oval 59">
              <a:extLst>
                <a:ext uri="{FF2B5EF4-FFF2-40B4-BE49-F238E27FC236}">
                  <a16:creationId xmlns:a16="http://schemas.microsoft.com/office/drawing/2014/main" id="{62253B6D-A3A5-E237-EF01-BDA1823FE26F}"/>
                </a:ext>
              </a:extLst>
            </p:cNvPr>
            <p:cNvSpPr/>
            <p:nvPr/>
          </p:nvSpPr>
          <p:spPr>
            <a:xfrm>
              <a:off x="4459447" y="2933378"/>
              <a:ext cx="1131484" cy="1131484"/>
            </a:xfrm>
            <a:prstGeom prst="ellipse">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Parental emotional instability</a:t>
              </a:r>
            </a:p>
          </p:txBody>
        </p:sp>
        <p:sp>
          <p:nvSpPr>
            <p:cNvPr id="61" name="Oval 60">
              <a:extLst>
                <a:ext uri="{FF2B5EF4-FFF2-40B4-BE49-F238E27FC236}">
                  <a16:creationId xmlns:a16="http://schemas.microsoft.com/office/drawing/2014/main" id="{E1144C00-52FD-6C78-5706-F67A14E6EFB7}"/>
                </a:ext>
              </a:extLst>
            </p:cNvPr>
            <p:cNvSpPr/>
            <p:nvPr/>
          </p:nvSpPr>
          <p:spPr>
            <a:xfrm>
              <a:off x="3729194" y="6421417"/>
              <a:ext cx="1528824" cy="1528824"/>
            </a:xfrm>
            <a:prstGeom prst="ellipse">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Unpredictability of sensory signals</a:t>
              </a:r>
            </a:p>
          </p:txBody>
        </p:sp>
        <p:sp>
          <p:nvSpPr>
            <p:cNvPr id="62" name="Oval 61">
              <a:extLst>
                <a:ext uri="{FF2B5EF4-FFF2-40B4-BE49-F238E27FC236}">
                  <a16:creationId xmlns:a16="http://schemas.microsoft.com/office/drawing/2014/main" id="{09BE35D1-D0FF-4D1D-3790-A8C9CC5E750E}"/>
                </a:ext>
              </a:extLst>
            </p:cNvPr>
            <p:cNvSpPr/>
            <p:nvPr/>
          </p:nvSpPr>
          <p:spPr>
            <a:xfrm>
              <a:off x="5768706" y="1172950"/>
              <a:ext cx="1316120" cy="1316120"/>
            </a:xfrm>
            <a:prstGeom prst="ellipse">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latin typeface="Arial" panose="020B0604020202020204" pitchFamily="34" charset="0"/>
                  <a:cs typeface="Arial" panose="020B0604020202020204" pitchFamily="34" charset="0"/>
                </a:rPr>
                <a:t>Household Composition Changes</a:t>
              </a:r>
            </a:p>
          </p:txBody>
        </p:sp>
        <p:sp>
          <p:nvSpPr>
            <p:cNvPr id="63" name="Oval 62">
              <a:extLst>
                <a:ext uri="{FF2B5EF4-FFF2-40B4-BE49-F238E27FC236}">
                  <a16:creationId xmlns:a16="http://schemas.microsoft.com/office/drawing/2014/main" id="{D5B3C9E4-5A17-9CE3-CE6E-8B341D87EE80}"/>
                </a:ext>
              </a:extLst>
            </p:cNvPr>
            <p:cNvSpPr/>
            <p:nvPr/>
          </p:nvSpPr>
          <p:spPr>
            <a:xfrm>
              <a:off x="6434894" y="1977906"/>
              <a:ext cx="1316120" cy="1316120"/>
            </a:xfrm>
            <a:prstGeom prst="ellipse">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latin typeface="Arial" panose="020B0604020202020204" pitchFamily="34" charset="0"/>
                  <a:cs typeface="Arial" panose="020B0604020202020204" pitchFamily="34" charset="0"/>
                </a:rPr>
                <a:t>Residential/Housing Instability</a:t>
              </a:r>
            </a:p>
          </p:txBody>
        </p:sp>
        <p:sp>
          <p:nvSpPr>
            <p:cNvPr id="64" name="Oval 63">
              <a:extLst>
                <a:ext uri="{FF2B5EF4-FFF2-40B4-BE49-F238E27FC236}">
                  <a16:creationId xmlns:a16="http://schemas.microsoft.com/office/drawing/2014/main" id="{6F3D8DA1-810E-85C1-2E33-9574A0C5F2E4}"/>
                </a:ext>
              </a:extLst>
            </p:cNvPr>
            <p:cNvSpPr/>
            <p:nvPr/>
          </p:nvSpPr>
          <p:spPr>
            <a:xfrm>
              <a:off x="6830398" y="1219412"/>
              <a:ext cx="1175044" cy="1175044"/>
            </a:xfrm>
            <a:prstGeom prst="ellipse">
              <a:avLst/>
            </a:prstGeom>
            <a:solidFill>
              <a:schemeClr val="bg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Foster Care Placement Instability</a:t>
              </a:r>
            </a:p>
          </p:txBody>
        </p:sp>
        <p:sp>
          <p:nvSpPr>
            <p:cNvPr id="65" name="Oval 64">
              <a:extLst>
                <a:ext uri="{FF2B5EF4-FFF2-40B4-BE49-F238E27FC236}">
                  <a16:creationId xmlns:a16="http://schemas.microsoft.com/office/drawing/2014/main" id="{6D197C94-3BB1-FC6B-9CF2-061AC6938E5B}"/>
                </a:ext>
              </a:extLst>
            </p:cNvPr>
            <p:cNvSpPr/>
            <p:nvPr/>
          </p:nvSpPr>
          <p:spPr>
            <a:xfrm>
              <a:off x="5809328" y="2757434"/>
              <a:ext cx="1316120" cy="1316120"/>
            </a:xfrm>
            <a:prstGeom prst="ellipse">
              <a:avLst/>
            </a:prstGeom>
            <a:solidFill>
              <a:schemeClr val="bg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Financial Instability and Insecurity</a:t>
              </a:r>
            </a:p>
          </p:txBody>
        </p:sp>
        <p:sp>
          <p:nvSpPr>
            <p:cNvPr id="66" name="Oval 65">
              <a:extLst>
                <a:ext uri="{FF2B5EF4-FFF2-40B4-BE49-F238E27FC236}">
                  <a16:creationId xmlns:a16="http://schemas.microsoft.com/office/drawing/2014/main" id="{A73887A6-516F-3BD9-5690-DA66FA79DF9C}"/>
                </a:ext>
              </a:extLst>
            </p:cNvPr>
            <p:cNvSpPr/>
            <p:nvPr/>
          </p:nvSpPr>
          <p:spPr>
            <a:xfrm>
              <a:off x="6750225" y="3863511"/>
              <a:ext cx="1316120" cy="1316120"/>
            </a:xfrm>
            <a:prstGeom prst="ellipse">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latin typeface="Arial" panose="020B0604020202020204" pitchFamily="34" charset="0"/>
                  <a:cs typeface="Arial" panose="020B0604020202020204" pitchFamily="34" charset="0"/>
                </a:rPr>
                <a:t>Household Chaos</a:t>
              </a:r>
            </a:p>
          </p:txBody>
        </p:sp>
        <p:sp>
          <p:nvSpPr>
            <p:cNvPr id="67" name="Oval 66">
              <a:extLst>
                <a:ext uri="{FF2B5EF4-FFF2-40B4-BE49-F238E27FC236}">
                  <a16:creationId xmlns:a16="http://schemas.microsoft.com/office/drawing/2014/main" id="{DF25D877-4A2B-FEC5-41A5-75DF31C400DB}"/>
                </a:ext>
              </a:extLst>
            </p:cNvPr>
            <p:cNvSpPr/>
            <p:nvPr/>
          </p:nvSpPr>
          <p:spPr>
            <a:xfrm>
              <a:off x="8367022" y="1340303"/>
              <a:ext cx="1048062" cy="1048062"/>
            </a:xfrm>
            <a:prstGeom prst="ellipse">
              <a:avLst/>
            </a:prstGeom>
            <a:solidFill>
              <a:schemeClr val="bg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Child care or School Instability</a:t>
              </a:r>
            </a:p>
          </p:txBody>
        </p:sp>
        <p:sp>
          <p:nvSpPr>
            <p:cNvPr id="68" name="Oval 67">
              <a:extLst>
                <a:ext uri="{FF2B5EF4-FFF2-40B4-BE49-F238E27FC236}">
                  <a16:creationId xmlns:a16="http://schemas.microsoft.com/office/drawing/2014/main" id="{54B4C7A6-6847-6A38-7559-8E3C7E75783E}"/>
                </a:ext>
              </a:extLst>
            </p:cNvPr>
            <p:cNvSpPr/>
            <p:nvPr/>
          </p:nvSpPr>
          <p:spPr>
            <a:xfrm>
              <a:off x="9453536" y="2936906"/>
              <a:ext cx="1175044" cy="1175044"/>
            </a:xfrm>
            <a:prstGeom prst="ellipse">
              <a:avLst/>
            </a:prstGeom>
            <a:solidFill>
              <a:schemeClr val="bg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Classroom Quality Instability &amp; Classroom Chaos</a:t>
              </a:r>
            </a:p>
          </p:txBody>
        </p:sp>
        <p:sp>
          <p:nvSpPr>
            <p:cNvPr id="69" name="Oval 68">
              <a:extLst>
                <a:ext uri="{FF2B5EF4-FFF2-40B4-BE49-F238E27FC236}">
                  <a16:creationId xmlns:a16="http://schemas.microsoft.com/office/drawing/2014/main" id="{BDA1F3B2-B856-9B37-D089-61FEB95B21A7}"/>
                </a:ext>
              </a:extLst>
            </p:cNvPr>
            <p:cNvSpPr/>
            <p:nvPr/>
          </p:nvSpPr>
          <p:spPr>
            <a:xfrm>
              <a:off x="9427616" y="1678726"/>
              <a:ext cx="1175044" cy="1175044"/>
            </a:xfrm>
            <a:prstGeom prst="ellipse">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Friendship Instability</a:t>
              </a:r>
            </a:p>
          </p:txBody>
        </p:sp>
        <p:sp>
          <p:nvSpPr>
            <p:cNvPr id="70" name="Oval 69">
              <a:extLst>
                <a:ext uri="{FF2B5EF4-FFF2-40B4-BE49-F238E27FC236}">
                  <a16:creationId xmlns:a16="http://schemas.microsoft.com/office/drawing/2014/main" id="{9B647131-1C18-3C5B-F71B-60A626EBA3C5}"/>
                </a:ext>
              </a:extLst>
            </p:cNvPr>
            <p:cNvSpPr/>
            <p:nvPr/>
          </p:nvSpPr>
          <p:spPr>
            <a:xfrm>
              <a:off x="8329935" y="3976936"/>
              <a:ext cx="1260349" cy="1260349"/>
            </a:xfrm>
            <a:prstGeom prst="ellipse">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Teacher Emotional Support Consistency</a:t>
              </a:r>
            </a:p>
          </p:txBody>
        </p:sp>
        <p:sp>
          <p:nvSpPr>
            <p:cNvPr id="71" name="Oval 70">
              <a:extLst>
                <a:ext uri="{FF2B5EF4-FFF2-40B4-BE49-F238E27FC236}">
                  <a16:creationId xmlns:a16="http://schemas.microsoft.com/office/drawing/2014/main" id="{D24BE853-EC69-ADBF-4527-EC78E6E74898}"/>
                </a:ext>
              </a:extLst>
            </p:cNvPr>
            <p:cNvSpPr/>
            <p:nvPr/>
          </p:nvSpPr>
          <p:spPr>
            <a:xfrm>
              <a:off x="8382754" y="2446735"/>
              <a:ext cx="1004275" cy="1004275"/>
            </a:xfrm>
            <a:prstGeom prst="ellipse">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Service Quality Instability</a:t>
              </a:r>
            </a:p>
          </p:txBody>
        </p:sp>
        <p:sp>
          <p:nvSpPr>
            <p:cNvPr id="72" name="Oval 71">
              <a:extLst>
                <a:ext uri="{FF2B5EF4-FFF2-40B4-BE49-F238E27FC236}">
                  <a16:creationId xmlns:a16="http://schemas.microsoft.com/office/drawing/2014/main" id="{D5862725-6CDA-6BBD-750C-DE9239D3DBC0}"/>
                </a:ext>
              </a:extLst>
            </p:cNvPr>
            <p:cNvSpPr/>
            <p:nvPr/>
          </p:nvSpPr>
          <p:spPr>
            <a:xfrm>
              <a:off x="10793010" y="2100283"/>
              <a:ext cx="1286453" cy="1286453"/>
            </a:xfrm>
            <a:prstGeom prst="ellipse">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latin typeface="Arial" panose="020B0604020202020204" pitchFamily="34" charset="0"/>
                  <a:cs typeface="Arial" panose="020B0604020202020204" pitchFamily="34" charset="0"/>
                </a:rPr>
                <a:t>Parental Employment Instability</a:t>
              </a:r>
            </a:p>
          </p:txBody>
        </p:sp>
        <p:sp>
          <p:nvSpPr>
            <p:cNvPr id="73" name="Oval 72">
              <a:extLst>
                <a:ext uri="{FF2B5EF4-FFF2-40B4-BE49-F238E27FC236}">
                  <a16:creationId xmlns:a16="http://schemas.microsoft.com/office/drawing/2014/main" id="{CAE9E443-CD6B-5168-120F-A6549160FC30}"/>
                </a:ext>
              </a:extLst>
            </p:cNvPr>
            <p:cNvSpPr/>
            <p:nvPr/>
          </p:nvSpPr>
          <p:spPr>
            <a:xfrm>
              <a:off x="10806989" y="3554802"/>
              <a:ext cx="1286453" cy="1286453"/>
            </a:xfrm>
            <a:prstGeom prst="ellipse">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Parental Work Schedule Unpredictability</a:t>
              </a:r>
            </a:p>
          </p:txBody>
        </p:sp>
        <p:sp>
          <p:nvSpPr>
            <p:cNvPr id="74" name="Oval 73">
              <a:extLst>
                <a:ext uri="{FF2B5EF4-FFF2-40B4-BE49-F238E27FC236}">
                  <a16:creationId xmlns:a16="http://schemas.microsoft.com/office/drawing/2014/main" id="{CAC3E386-3EFF-955A-7271-4FD88A3FBB0B}"/>
                </a:ext>
              </a:extLst>
            </p:cNvPr>
            <p:cNvSpPr/>
            <p:nvPr/>
          </p:nvSpPr>
          <p:spPr>
            <a:xfrm>
              <a:off x="9260854" y="4863774"/>
              <a:ext cx="1473800" cy="1473800"/>
            </a:xfrm>
            <a:prstGeom prst="ellipse">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Neighborhood Chaos &amp; Fragmentation</a:t>
              </a:r>
            </a:p>
          </p:txBody>
        </p:sp>
        <p:sp>
          <p:nvSpPr>
            <p:cNvPr id="75" name="Oval 74">
              <a:extLst>
                <a:ext uri="{FF2B5EF4-FFF2-40B4-BE49-F238E27FC236}">
                  <a16:creationId xmlns:a16="http://schemas.microsoft.com/office/drawing/2014/main" id="{46CAB072-4420-E9D8-7303-72B4DF4F8CD6}"/>
                </a:ext>
              </a:extLst>
            </p:cNvPr>
            <p:cNvSpPr/>
            <p:nvPr/>
          </p:nvSpPr>
          <p:spPr>
            <a:xfrm>
              <a:off x="11892093" y="1158450"/>
              <a:ext cx="1586918" cy="1586918"/>
            </a:xfrm>
            <a:prstGeom prst="ellipse">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Natural Disasters, Political Instability, Macro-insecurity</a:t>
              </a:r>
            </a:p>
          </p:txBody>
        </p:sp>
        <p:sp>
          <p:nvSpPr>
            <p:cNvPr id="82" name="TextBox 81">
              <a:extLst>
                <a:ext uri="{FF2B5EF4-FFF2-40B4-BE49-F238E27FC236}">
                  <a16:creationId xmlns:a16="http://schemas.microsoft.com/office/drawing/2014/main" id="{9CD6FA86-C9C3-6A6E-A843-E15C8D7CBD83}"/>
                </a:ext>
              </a:extLst>
            </p:cNvPr>
            <p:cNvSpPr txBox="1"/>
            <p:nvPr/>
          </p:nvSpPr>
          <p:spPr>
            <a:xfrm>
              <a:off x="978609" y="8580474"/>
              <a:ext cx="8618257" cy="369332"/>
            </a:xfrm>
            <a:prstGeom prst="rect">
              <a:avLst/>
            </a:prstGeom>
            <a:noFill/>
          </p:spPr>
          <p:txBody>
            <a:bodyPr wrap="none" rtlCol="0">
              <a:spAutoFit/>
            </a:bodyPr>
            <a:lstStyle/>
            <a:p>
              <a:r>
                <a:rPr lang="en-US" dirty="0"/>
                <a:t>*Darkness of the circle indicates how frequent researchers have studied the construct</a:t>
              </a:r>
            </a:p>
          </p:txBody>
        </p:sp>
        <p:sp>
          <p:nvSpPr>
            <p:cNvPr id="83" name="Oval 82">
              <a:extLst>
                <a:ext uri="{FF2B5EF4-FFF2-40B4-BE49-F238E27FC236}">
                  <a16:creationId xmlns:a16="http://schemas.microsoft.com/office/drawing/2014/main" id="{AC1263A4-78CC-CEB4-C9A3-2961DBA7583F}"/>
                </a:ext>
              </a:extLst>
            </p:cNvPr>
            <p:cNvSpPr/>
            <p:nvPr/>
          </p:nvSpPr>
          <p:spPr>
            <a:xfrm>
              <a:off x="9647100" y="8367207"/>
              <a:ext cx="787916" cy="787916"/>
            </a:xfrm>
            <a:prstGeom prst="ellipse">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latin typeface="Arial" panose="020B0604020202020204" pitchFamily="34" charset="0"/>
                  <a:cs typeface="Arial" panose="020B0604020202020204" pitchFamily="34" charset="0"/>
                </a:rPr>
                <a:t>&gt;20</a:t>
              </a:r>
            </a:p>
          </p:txBody>
        </p:sp>
        <p:sp>
          <p:nvSpPr>
            <p:cNvPr id="84" name="Oval 83">
              <a:extLst>
                <a:ext uri="{FF2B5EF4-FFF2-40B4-BE49-F238E27FC236}">
                  <a16:creationId xmlns:a16="http://schemas.microsoft.com/office/drawing/2014/main" id="{8A6DF0B9-3E15-690D-53DB-DD21E8DD4478}"/>
                </a:ext>
              </a:extLst>
            </p:cNvPr>
            <p:cNvSpPr/>
            <p:nvPr/>
          </p:nvSpPr>
          <p:spPr>
            <a:xfrm>
              <a:off x="10566382" y="8357779"/>
              <a:ext cx="787916" cy="787916"/>
            </a:xfrm>
            <a:prstGeom prst="ellipse">
              <a:avLst/>
            </a:prstGeom>
            <a:solidFill>
              <a:schemeClr val="bg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10-20</a:t>
              </a:r>
            </a:p>
          </p:txBody>
        </p:sp>
        <p:sp>
          <p:nvSpPr>
            <p:cNvPr id="85" name="Oval 84">
              <a:extLst>
                <a:ext uri="{FF2B5EF4-FFF2-40B4-BE49-F238E27FC236}">
                  <a16:creationId xmlns:a16="http://schemas.microsoft.com/office/drawing/2014/main" id="{ACF022EB-B484-567E-C8CE-2E030595B203}"/>
                </a:ext>
              </a:extLst>
            </p:cNvPr>
            <p:cNvSpPr/>
            <p:nvPr/>
          </p:nvSpPr>
          <p:spPr>
            <a:xfrm>
              <a:off x="12405317" y="8356084"/>
              <a:ext cx="787916" cy="787916"/>
            </a:xfrm>
            <a:prstGeom prst="ellipse">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&lt;5</a:t>
              </a:r>
            </a:p>
          </p:txBody>
        </p:sp>
        <p:sp>
          <p:nvSpPr>
            <p:cNvPr id="86" name="Oval 85">
              <a:extLst>
                <a:ext uri="{FF2B5EF4-FFF2-40B4-BE49-F238E27FC236}">
                  <a16:creationId xmlns:a16="http://schemas.microsoft.com/office/drawing/2014/main" id="{6D05E85F-102C-CF35-41F9-F1C75003AC0D}"/>
                </a:ext>
              </a:extLst>
            </p:cNvPr>
            <p:cNvSpPr/>
            <p:nvPr/>
          </p:nvSpPr>
          <p:spPr>
            <a:xfrm>
              <a:off x="11485664" y="8357779"/>
              <a:ext cx="787916" cy="787916"/>
            </a:xfrm>
            <a:prstGeom prst="ellipse">
              <a:avLst/>
            </a:prstGeom>
            <a:solidFill>
              <a:schemeClr val="bg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rial" panose="020B0604020202020204" pitchFamily="34" charset="0"/>
                  <a:cs typeface="Arial" panose="020B0604020202020204" pitchFamily="34" charset="0"/>
                </a:rPr>
                <a:t>5-10</a:t>
              </a:r>
            </a:p>
          </p:txBody>
        </p:sp>
      </p:grpSp>
    </p:spTree>
    <p:extLst>
      <p:ext uri="{BB962C8B-B14F-4D97-AF65-F5344CB8AC3E}">
        <p14:creationId xmlns:p14="http://schemas.microsoft.com/office/powerpoint/2010/main" val="298824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1806-4452-AC99-4C47-5A9E1232B7B3}"/>
              </a:ext>
            </a:extLst>
          </p:cNvPr>
          <p:cNvSpPr txBox="1">
            <a:spLocks/>
          </p:cNvSpPr>
          <p:nvPr/>
        </p:nvSpPr>
        <p:spPr>
          <a:xfrm>
            <a:off x="942975" y="486835"/>
            <a:ext cx="11830050" cy="1767417"/>
          </a:xfrm>
          <a:prstGeom prst="rect">
            <a:avLst/>
          </a:prstGeom>
        </p:spPr>
        <p:txBody>
          <a:bodyPr/>
          <a:lst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a:lstStyle>
          <a:p>
            <a:r>
              <a:rPr lang="en-US" sz="4800" dirty="0"/>
              <a:t>Patterns Discovered Among Studies Using Non-Survey Approaches</a:t>
            </a:r>
          </a:p>
        </p:txBody>
      </p:sp>
      <p:sp>
        <p:nvSpPr>
          <p:cNvPr id="3" name="Content Placeholder 2">
            <a:extLst>
              <a:ext uri="{FF2B5EF4-FFF2-40B4-BE49-F238E27FC236}">
                <a16:creationId xmlns:a16="http://schemas.microsoft.com/office/drawing/2014/main" id="{B19549CB-2043-26AC-86C7-725E016645DA}"/>
              </a:ext>
            </a:extLst>
          </p:cNvPr>
          <p:cNvSpPr txBox="1">
            <a:spLocks/>
          </p:cNvSpPr>
          <p:nvPr/>
        </p:nvSpPr>
        <p:spPr>
          <a:xfrm>
            <a:off x="942975" y="2010098"/>
            <a:ext cx="12256190" cy="7133902"/>
          </a:xfrm>
          <a:prstGeom prst="rect">
            <a:avLst/>
          </a:prstGeom>
        </p:spPr>
        <p:txBody>
          <a:bodyPr>
            <a:norm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sz="2800" dirty="0"/>
              <a:t>Large majority of observational studies also use computations or statistical modeling to handle data and capture unpredictability</a:t>
            </a:r>
          </a:p>
          <a:p>
            <a:r>
              <a:rPr lang="en-US" sz="2800" dirty="0"/>
              <a:t>On objective vs. subjective unpredictability: </a:t>
            </a:r>
          </a:p>
          <a:p>
            <a:pPr lvl="1"/>
            <a:r>
              <a:rPr lang="en-US" sz="2400" dirty="0"/>
              <a:t>Studies using observational data, computation/statistical modeling, record data, and sample characteristics to capture unpredictability all focus on children’s objective experiences of unpredictability. </a:t>
            </a:r>
          </a:p>
          <a:p>
            <a:pPr lvl="1"/>
            <a:r>
              <a:rPr lang="en-US" sz="2400" dirty="0"/>
              <a:t>None of these studies captured subjective perceptions.</a:t>
            </a:r>
          </a:p>
          <a:p>
            <a:r>
              <a:rPr lang="en-US" sz="2800" dirty="0"/>
              <a:t>On ecological context: Leaning heavily towards proximal context unpredictability</a:t>
            </a:r>
          </a:p>
          <a:p>
            <a:pPr lvl="1"/>
            <a:r>
              <a:rPr lang="en-US" sz="2400" dirty="0"/>
              <a:t>Most studies focus on proximal context – majority family context, with a few on school/classroom/ECE and friendship contexts</a:t>
            </a:r>
          </a:p>
          <a:p>
            <a:pPr lvl="1"/>
            <a:r>
              <a:rPr lang="en-US" sz="2400" dirty="0"/>
              <a:t>Studies on child routines may capture unpredictability both in proximal family context and within individual </a:t>
            </a:r>
          </a:p>
          <a:p>
            <a:pPr lvl="1"/>
            <a:r>
              <a:rPr lang="en-US" sz="2400" dirty="0"/>
              <a:t>Only two studies captured unpredictability in distal context – one study on neighborhood, and another study on country-level political instability</a:t>
            </a:r>
          </a:p>
        </p:txBody>
      </p:sp>
    </p:spTree>
    <p:extLst>
      <p:ext uri="{BB962C8B-B14F-4D97-AF65-F5344CB8AC3E}">
        <p14:creationId xmlns:p14="http://schemas.microsoft.com/office/powerpoint/2010/main" val="1926806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1806-4452-AC99-4C47-5A9E1232B7B3}"/>
              </a:ext>
            </a:extLst>
          </p:cNvPr>
          <p:cNvSpPr txBox="1">
            <a:spLocks/>
          </p:cNvSpPr>
          <p:nvPr/>
        </p:nvSpPr>
        <p:spPr>
          <a:xfrm>
            <a:off x="942975" y="486835"/>
            <a:ext cx="11830050" cy="1767417"/>
          </a:xfrm>
          <a:prstGeom prst="rect">
            <a:avLst/>
          </a:prstGeom>
        </p:spPr>
        <p:txBody>
          <a:bodyPr/>
          <a:lst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a:lstStyle>
          <a:p>
            <a:r>
              <a:rPr lang="en-US" sz="4800" dirty="0"/>
              <a:t>Patterns Discovered Among Studies Using Non-Survey Approaches (Continued 1)</a:t>
            </a:r>
          </a:p>
        </p:txBody>
      </p:sp>
      <p:sp>
        <p:nvSpPr>
          <p:cNvPr id="3" name="Content Placeholder 2">
            <a:extLst>
              <a:ext uri="{FF2B5EF4-FFF2-40B4-BE49-F238E27FC236}">
                <a16:creationId xmlns:a16="http://schemas.microsoft.com/office/drawing/2014/main" id="{B19549CB-2043-26AC-86C7-725E016645DA}"/>
              </a:ext>
            </a:extLst>
          </p:cNvPr>
          <p:cNvSpPr txBox="1">
            <a:spLocks/>
          </p:cNvSpPr>
          <p:nvPr/>
        </p:nvSpPr>
        <p:spPr>
          <a:xfrm>
            <a:off x="942975" y="2010098"/>
            <a:ext cx="12256190" cy="7133902"/>
          </a:xfrm>
          <a:prstGeom prst="rect">
            <a:avLst/>
          </a:prstGeom>
        </p:spPr>
        <p:txBody>
          <a:bodyPr>
            <a:normAutofit lnSpcReduction="10000"/>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sz="2800" dirty="0"/>
              <a:t>On time scale: </a:t>
            </a:r>
          </a:p>
          <a:p>
            <a:pPr lvl="1"/>
            <a:r>
              <a:rPr lang="en-US" sz="2400" dirty="0"/>
              <a:t>Micro-scale (moment-to-moment) unpredictability only found to be captured in observational studies using micro-coding (along with statistical modeling/ computation). Three out of five adopted the entropy method from Davis et al. (2017) PNAS paper.</a:t>
            </a:r>
          </a:p>
          <a:p>
            <a:pPr lvl="1"/>
            <a:r>
              <a:rPr lang="en-US" sz="2400" dirty="0"/>
              <a:t>Majority of meso-scale (situation-to-situation) unpredictability also found in observational studies – 9 out of 12. The rest three studies use methods such as EMA and diaries to obtain information for multiple times/day.</a:t>
            </a:r>
          </a:p>
          <a:p>
            <a:pPr lvl="1"/>
            <a:r>
              <a:rPr lang="en-US" sz="2400" dirty="0"/>
              <a:t>Studies using the traditional longitudinal assessment over time can only capture unpredictability at the macro level – across months or years. </a:t>
            </a:r>
          </a:p>
          <a:p>
            <a:r>
              <a:rPr lang="en-US" sz="2800" dirty="0"/>
              <a:t>On valence of the construct that is assessed to be unpredictable: </a:t>
            </a:r>
          </a:p>
          <a:p>
            <a:pPr lvl="1"/>
            <a:r>
              <a:rPr lang="en-US" sz="2400" dirty="0"/>
              <a:t>“Positive” represents constructs that are developmentally supportive and promoting, such as (the unpredictability of) maternal sensitivity, friendship.</a:t>
            </a:r>
          </a:p>
          <a:p>
            <a:pPr lvl="1"/>
            <a:r>
              <a:rPr lang="en-US" sz="2400" dirty="0"/>
              <a:t>“Negative” represents constructs that are developmentally inhibiting, such as (the unpredictability of) maternal hostility, economic hardship. </a:t>
            </a:r>
          </a:p>
          <a:p>
            <a:pPr lvl="1"/>
            <a:r>
              <a:rPr lang="en-US" sz="2400" dirty="0"/>
              <a:t>After evaluating these non-survey-based studies, I feel that distinguishing the valence may not be helpful – often two sides of the same coin. Also, some constructs that are assessed to be unpredictability are neither positive nor negative (e.g., income, activities involved in daily routines, etc.) Consider dropping this metric? </a:t>
            </a:r>
          </a:p>
          <a:p>
            <a:endParaRPr lang="en-US" sz="2400" dirty="0"/>
          </a:p>
        </p:txBody>
      </p:sp>
    </p:spTree>
    <p:extLst>
      <p:ext uri="{BB962C8B-B14F-4D97-AF65-F5344CB8AC3E}">
        <p14:creationId xmlns:p14="http://schemas.microsoft.com/office/powerpoint/2010/main" val="3127814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1806-4452-AC99-4C47-5A9E1232B7B3}"/>
              </a:ext>
            </a:extLst>
          </p:cNvPr>
          <p:cNvSpPr txBox="1">
            <a:spLocks/>
          </p:cNvSpPr>
          <p:nvPr/>
        </p:nvSpPr>
        <p:spPr>
          <a:xfrm>
            <a:off x="942975" y="486835"/>
            <a:ext cx="11830050" cy="1767417"/>
          </a:xfrm>
          <a:prstGeom prst="rect">
            <a:avLst/>
          </a:prstGeom>
        </p:spPr>
        <p:txBody>
          <a:bodyPr/>
          <a:lst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a:lstStyle>
          <a:p>
            <a:r>
              <a:rPr lang="en-US" sz="4800" dirty="0"/>
              <a:t>Patterns Discovered Among Studies Using Non-Survey Approaches (Continued 2)</a:t>
            </a:r>
          </a:p>
        </p:txBody>
      </p:sp>
      <p:sp>
        <p:nvSpPr>
          <p:cNvPr id="3" name="Content Placeholder 2">
            <a:extLst>
              <a:ext uri="{FF2B5EF4-FFF2-40B4-BE49-F238E27FC236}">
                <a16:creationId xmlns:a16="http://schemas.microsoft.com/office/drawing/2014/main" id="{B19549CB-2043-26AC-86C7-725E016645DA}"/>
              </a:ext>
            </a:extLst>
          </p:cNvPr>
          <p:cNvSpPr txBox="1">
            <a:spLocks/>
          </p:cNvSpPr>
          <p:nvPr/>
        </p:nvSpPr>
        <p:spPr>
          <a:xfrm>
            <a:off x="942975" y="2010098"/>
            <a:ext cx="12256190" cy="7133902"/>
          </a:xfrm>
          <a:prstGeom prst="rect">
            <a:avLst/>
          </a:prstGeom>
        </p:spPr>
        <p:txBody>
          <a:bodyPr>
            <a:norm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sz="2800" dirty="0"/>
              <a:t>On the assessed contents &amp; used terms to capture unpredictability, generally can be classified into the following categories: </a:t>
            </a:r>
          </a:p>
          <a:p>
            <a:pPr lvl="1"/>
            <a:r>
              <a:rPr lang="en-US" sz="2400" dirty="0"/>
              <a:t>Lack of structure, including studies on chaos and routines. These studies usually do not capture unpredictability across a timescale, but rather indicates the concurrent environment or experiences. </a:t>
            </a:r>
          </a:p>
          <a:p>
            <a:pPr lvl="2"/>
            <a:r>
              <a:rPr lang="en-US" sz="2000" dirty="0"/>
              <a:t>Chaos: disorganization, messy/noisy, not on time, not following a structure. </a:t>
            </a:r>
          </a:p>
          <a:p>
            <a:pPr lvl="2"/>
            <a:r>
              <a:rPr lang="en-US" sz="2000" dirty="0"/>
              <a:t>Routines: frequency or whether following a particular set of routines/habits/activities. The content of routines does not matter as much as the frequency and regularity of these activities.</a:t>
            </a:r>
          </a:p>
          <a:p>
            <a:pPr lvl="1"/>
            <a:r>
              <a:rPr lang="en-US" sz="2400" dirty="0"/>
              <a:t>Instability/inconsistency: changes across time or different situations/contexts, corresponding to meso- and macro-time scale unpredictability. </a:t>
            </a:r>
          </a:p>
          <a:p>
            <a:pPr lvl="2"/>
            <a:r>
              <a:rPr lang="en-US" sz="2000" dirty="0"/>
              <a:t>A big body of research on instability focuses on the changes of important adults/contexts in children’s lives, e.g., foster care placement instability, caregiver instability, child care instability, friendship instability, school instability.</a:t>
            </a:r>
          </a:p>
          <a:p>
            <a:pPr lvl="2"/>
            <a:r>
              <a:rPr lang="en-US" sz="2000" dirty="0"/>
              <a:t>Studies also exist to capture changes of certain developmentally relevant constructs, such as the instability/inconsistency of  emotional support, maternal emotions, maternal sensitivity.</a:t>
            </a:r>
          </a:p>
          <a:p>
            <a:pPr lvl="1"/>
            <a:r>
              <a:rPr lang="en-US" sz="2400" dirty="0"/>
              <a:t>Unpredictability in micro-timescale studies: among these studies that do NOT use questionnaires, the word “unpredictability” is only used in the micro-timescale studies to capture scholastic, moment-to-moment changes in direct, proximal environments. (This will be different in questionnaire-based studies). </a:t>
            </a:r>
          </a:p>
        </p:txBody>
      </p:sp>
    </p:spTree>
    <p:extLst>
      <p:ext uri="{BB962C8B-B14F-4D97-AF65-F5344CB8AC3E}">
        <p14:creationId xmlns:p14="http://schemas.microsoft.com/office/powerpoint/2010/main" val="559231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8079-7390-2FB6-B23E-D27C7C49A185}"/>
              </a:ext>
            </a:extLst>
          </p:cNvPr>
          <p:cNvSpPr>
            <a:spLocks noGrp="1"/>
          </p:cNvSpPr>
          <p:nvPr>
            <p:ph type="title"/>
          </p:nvPr>
        </p:nvSpPr>
        <p:spPr/>
        <p:txBody>
          <a:bodyPr>
            <a:normAutofit fontScale="90000"/>
          </a:bodyPr>
          <a:lstStyle/>
          <a:p>
            <a:r>
              <a:rPr lang="en-US" dirty="0"/>
              <a:t>Conclusions We Can Draw So Far</a:t>
            </a:r>
            <a:br>
              <a:rPr lang="en-US" dirty="0"/>
            </a:br>
            <a:r>
              <a:rPr lang="en-US" sz="4400" dirty="0"/>
              <a:t>(Need to be Validated with Questionnaire-Based Studies)</a:t>
            </a:r>
            <a:endParaRPr lang="en-US" dirty="0"/>
          </a:p>
        </p:txBody>
      </p:sp>
      <p:sp>
        <p:nvSpPr>
          <p:cNvPr id="3" name="Content Placeholder 2">
            <a:extLst>
              <a:ext uri="{FF2B5EF4-FFF2-40B4-BE49-F238E27FC236}">
                <a16:creationId xmlns:a16="http://schemas.microsoft.com/office/drawing/2014/main" id="{C873B727-5781-7E7B-73AB-48DB8CB8B21E}"/>
              </a:ext>
            </a:extLst>
          </p:cNvPr>
          <p:cNvSpPr>
            <a:spLocks noGrp="1"/>
          </p:cNvSpPr>
          <p:nvPr>
            <p:ph idx="1"/>
          </p:nvPr>
        </p:nvSpPr>
        <p:spPr>
          <a:xfrm>
            <a:off x="942974" y="2434166"/>
            <a:ext cx="12195509" cy="6709833"/>
          </a:xfrm>
        </p:spPr>
        <p:txBody>
          <a:bodyPr>
            <a:normAutofit/>
          </a:bodyPr>
          <a:lstStyle/>
          <a:p>
            <a:r>
              <a:rPr lang="en-US" sz="2800" dirty="0"/>
              <a:t>On time-scale, capturing micro- or meso-level unpredictability requires observations or methods that allow frequent data collection (EMA, diaries). Most existing studies still can only capture unpredictability at the macro level, across months/years, with longitudinal assessment. </a:t>
            </a:r>
          </a:p>
          <a:p>
            <a:pPr lvl="1"/>
            <a:r>
              <a:rPr lang="en-US" sz="2267" dirty="0"/>
              <a:t>Side note: even though groups of researchers have started proposing advanced statistical characteristics to capture unpredictability (e.g., Young et al. 2020), these methods have not been applied widely. Likely because of data limitation - lack of frequent assessments.</a:t>
            </a:r>
          </a:p>
          <a:p>
            <a:r>
              <a:rPr lang="en-US" sz="2800" dirty="0"/>
              <a:t>On ecological context, most existing studies are focusing on proximal contexts or within individuals (particularly studies on routines). Few studies examine unpredictability in distal contexts. </a:t>
            </a:r>
          </a:p>
          <a:p>
            <a:r>
              <a:rPr lang="en-US" sz="2800" dirty="0"/>
              <a:t>On subjective vs. objective unpredictability, non-questionnaire-based studies all capture children’s objective experiences of unpredictability. I expect some questionnaires assess subjective perceptions about unpredictability, but the objective experiences should still be predominant in existing studies.  </a:t>
            </a:r>
          </a:p>
          <a:p>
            <a:r>
              <a:rPr lang="en-US" sz="2800" dirty="0"/>
              <a:t>We can probably drop the assessment metric of valence. </a:t>
            </a:r>
          </a:p>
        </p:txBody>
      </p:sp>
    </p:spTree>
    <p:extLst>
      <p:ext uri="{BB962C8B-B14F-4D97-AF65-F5344CB8AC3E}">
        <p14:creationId xmlns:p14="http://schemas.microsoft.com/office/powerpoint/2010/main" val="494897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22A1F-501C-7807-5C2E-80115FAAE907}"/>
              </a:ext>
            </a:extLst>
          </p:cNvPr>
          <p:cNvSpPr>
            <a:spLocks noGrp="1"/>
          </p:cNvSpPr>
          <p:nvPr>
            <p:ph type="title"/>
          </p:nvPr>
        </p:nvSpPr>
        <p:spPr/>
        <p:txBody>
          <a:bodyPr/>
          <a:lstStyle/>
          <a:p>
            <a:r>
              <a:rPr lang="en-US" dirty="0"/>
              <a:t>Slides below are summaries of each type of studies. </a:t>
            </a:r>
          </a:p>
        </p:txBody>
      </p:sp>
    </p:spTree>
    <p:extLst>
      <p:ext uri="{BB962C8B-B14F-4D97-AF65-F5344CB8AC3E}">
        <p14:creationId xmlns:p14="http://schemas.microsoft.com/office/powerpoint/2010/main" val="914746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30336-C9B8-A306-617F-5A38CC12854E}"/>
              </a:ext>
            </a:extLst>
          </p:cNvPr>
          <p:cNvSpPr>
            <a:spLocks noGrp="1"/>
          </p:cNvSpPr>
          <p:nvPr>
            <p:ph type="title"/>
          </p:nvPr>
        </p:nvSpPr>
        <p:spPr/>
        <p:txBody>
          <a:bodyPr/>
          <a:lstStyle/>
          <a:p>
            <a:r>
              <a:rPr lang="en-US" dirty="0"/>
              <a:t>Observational Studies (N = 20)</a:t>
            </a:r>
          </a:p>
        </p:txBody>
      </p:sp>
      <p:sp>
        <p:nvSpPr>
          <p:cNvPr id="3" name="Content Placeholder 2">
            <a:extLst>
              <a:ext uri="{FF2B5EF4-FFF2-40B4-BE49-F238E27FC236}">
                <a16:creationId xmlns:a16="http://schemas.microsoft.com/office/drawing/2014/main" id="{496B583F-E446-F2CA-7317-EB46EDA0D64F}"/>
              </a:ext>
            </a:extLst>
          </p:cNvPr>
          <p:cNvSpPr>
            <a:spLocks noGrp="1"/>
          </p:cNvSpPr>
          <p:nvPr>
            <p:ph idx="1"/>
          </p:nvPr>
        </p:nvSpPr>
        <p:spPr>
          <a:xfrm>
            <a:off x="942975" y="1947332"/>
            <a:ext cx="12522302" cy="6709833"/>
          </a:xfrm>
        </p:spPr>
        <p:txBody>
          <a:bodyPr>
            <a:normAutofit/>
          </a:bodyPr>
          <a:lstStyle/>
          <a:p>
            <a:r>
              <a:rPr lang="en-US" sz="3200" dirty="0"/>
              <a:t>Methodology: </a:t>
            </a:r>
          </a:p>
          <a:p>
            <a:pPr lvl="1"/>
            <a:r>
              <a:rPr lang="en-US" sz="2667" dirty="0"/>
              <a:t>Most (19) include computation/statistical modeling to capture unpredictability</a:t>
            </a:r>
          </a:p>
          <a:p>
            <a:pPr lvl="1"/>
            <a:r>
              <a:rPr lang="en-US" sz="2667" dirty="0"/>
              <a:t>A third (n = 6) also accompanied with survey/questionnaire data</a:t>
            </a:r>
          </a:p>
          <a:p>
            <a:r>
              <a:rPr lang="en-US" sz="3200" dirty="0"/>
              <a:t>17 studies are typical observational studies, with 2 special cases</a:t>
            </a:r>
          </a:p>
          <a:p>
            <a:pPr lvl="1"/>
            <a:r>
              <a:rPr lang="en-US" sz="2667" dirty="0"/>
              <a:t>1 study on time-space routines with actogram data</a:t>
            </a:r>
          </a:p>
          <a:p>
            <a:pPr lvl="1"/>
            <a:r>
              <a:rPr lang="en-US" sz="2667" dirty="0"/>
              <a:t>1 study using LENA home environment recording. </a:t>
            </a:r>
          </a:p>
          <a:p>
            <a:r>
              <a:rPr lang="en-US" sz="3200" dirty="0"/>
              <a:t>Ecological context: Mostly proximal contexts</a:t>
            </a:r>
          </a:p>
          <a:p>
            <a:pPr lvl="1"/>
            <a:r>
              <a:rPr lang="en-US" sz="2667" dirty="0"/>
              <a:t>2 within individual – on child routines </a:t>
            </a:r>
          </a:p>
          <a:p>
            <a:pPr lvl="1"/>
            <a:r>
              <a:rPr lang="en-US" sz="2667" dirty="0"/>
              <a:t>7 in parenting behaviors</a:t>
            </a:r>
          </a:p>
          <a:p>
            <a:pPr lvl="1"/>
            <a:r>
              <a:rPr lang="en-US" sz="2667" dirty="0"/>
              <a:t>7 in home/family context</a:t>
            </a:r>
          </a:p>
          <a:p>
            <a:pPr lvl="1"/>
            <a:r>
              <a:rPr lang="en-US" sz="2667" dirty="0"/>
              <a:t>5 in ECE/classroom/teaching context</a:t>
            </a:r>
            <a:endParaRPr lang="en-US" sz="3200" dirty="0"/>
          </a:p>
          <a:p>
            <a:endParaRPr lang="en-US" sz="3200" dirty="0"/>
          </a:p>
        </p:txBody>
      </p:sp>
    </p:spTree>
    <p:extLst>
      <p:ext uri="{BB962C8B-B14F-4D97-AF65-F5344CB8AC3E}">
        <p14:creationId xmlns:p14="http://schemas.microsoft.com/office/powerpoint/2010/main" val="1575029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30336-C9B8-A306-617F-5A38CC12854E}"/>
              </a:ext>
            </a:extLst>
          </p:cNvPr>
          <p:cNvSpPr>
            <a:spLocks noGrp="1"/>
          </p:cNvSpPr>
          <p:nvPr>
            <p:ph type="title"/>
          </p:nvPr>
        </p:nvSpPr>
        <p:spPr/>
        <p:txBody>
          <a:bodyPr/>
          <a:lstStyle/>
          <a:p>
            <a:r>
              <a:rPr lang="en-US" dirty="0"/>
              <a:t>Observational Studies (N = 20)</a:t>
            </a:r>
          </a:p>
        </p:txBody>
      </p:sp>
      <p:sp>
        <p:nvSpPr>
          <p:cNvPr id="3" name="Content Placeholder 2">
            <a:extLst>
              <a:ext uri="{FF2B5EF4-FFF2-40B4-BE49-F238E27FC236}">
                <a16:creationId xmlns:a16="http://schemas.microsoft.com/office/drawing/2014/main" id="{496B583F-E446-F2CA-7317-EB46EDA0D64F}"/>
              </a:ext>
            </a:extLst>
          </p:cNvPr>
          <p:cNvSpPr>
            <a:spLocks noGrp="1"/>
          </p:cNvSpPr>
          <p:nvPr>
            <p:ph idx="1"/>
          </p:nvPr>
        </p:nvSpPr>
        <p:spPr>
          <a:xfrm>
            <a:off x="942975" y="1947332"/>
            <a:ext cx="12522302" cy="6709833"/>
          </a:xfrm>
        </p:spPr>
        <p:txBody>
          <a:bodyPr>
            <a:normAutofit/>
          </a:bodyPr>
          <a:lstStyle/>
          <a:p>
            <a:r>
              <a:rPr lang="en-US" sz="3200" dirty="0"/>
              <a:t>Timescale: 16 studies have this information, 4 studies (on HOME observations) timescale undetermined</a:t>
            </a:r>
          </a:p>
          <a:p>
            <a:pPr lvl="1"/>
            <a:r>
              <a:rPr lang="en-US" sz="2667" dirty="0"/>
              <a:t>Micro (moment-to-moment): 5 studies – including 4 micro-coding &amp; 1 LENA studies</a:t>
            </a:r>
          </a:p>
          <a:p>
            <a:pPr lvl="1"/>
            <a:r>
              <a:rPr lang="en-US" sz="2667" dirty="0" err="1"/>
              <a:t>Meso</a:t>
            </a:r>
            <a:r>
              <a:rPr lang="en-US" sz="2667" dirty="0"/>
              <a:t> (across contexts/situations or across time </a:t>
            </a:r>
            <a:r>
              <a:rPr lang="en-US" sz="2667" dirty="0">
                <a:solidFill>
                  <a:srgbClr val="C00000"/>
                </a:solidFill>
              </a:rPr>
              <a:t>&gt;5 min</a:t>
            </a:r>
            <a:r>
              <a:rPr lang="en-US" sz="2667" dirty="0"/>
              <a:t>): 9 studies</a:t>
            </a:r>
          </a:p>
          <a:p>
            <a:pPr lvl="1"/>
            <a:r>
              <a:rPr lang="en-US" sz="2667" dirty="0"/>
              <a:t>Macro (across months/years): 5 studies– assessing stability of a context construct (e.g., maternal sensitivity) over time</a:t>
            </a:r>
          </a:p>
          <a:p>
            <a:r>
              <a:rPr lang="en-US" sz="3200" dirty="0"/>
              <a:t>Valence:</a:t>
            </a:r>
          </a:p>
          <a:p>
            <a:pPr lvl="1"/>
            <a:r>
              <a:rPr lang="en-US" sz="2667" dirty="0"/>
              <a:t>Developmentally inhibiting (negative): 5 studies, including 4 on household chaos &amp; 1 on maternal hostility</a:t>
            </a:r>
          </a:p>
          <a:p>
            <a:pPr lvl="1"/>
            <a:r>
              <a:rPr lang="en-US" sz="2667" dirty="0"/>
              <a:t>Developmentally promoting (positive): 13 studies</a:t>
            </a:r>
          </a:p>
          <a:p>
            <a:pPr lvl="1"/>
            <a:r>
              <a:rPr lang="en-US" sz="2667" dirty="0"/>
              <a:t>2 studies (on routines) undetermined</a:t>
            </a:r>
          </a:p>
          <a:p>
            <a:r>
              <a:rPr lang="en-US" sz="3200" dirty="0"/>
              <a:t>Subjective/Objective: all objective</a:t>
            </a:r>
          </a:p>
          <a:p>
            <a:pPr marL="0" indent="0">
              <a:buNone/>
            </a:pPr>
            <a:endParaRPr lang="en-US" sz="3200" dirty="0"/>
          </a:p>
          <a:p>
            <a:endParaRPr lang="en-US" sz="3200" dirty="0"/>
          </a:p>
        </p:txBody>
      </p:sp>
    </p:spTree>
    <p:extLst>
      <p:ext uri="{BB962C8B-B14F-4D97-AF65-F5344CB8AC3E}">
        <p14:creationId xmlns:p14="http://schemas.microsoft.com/office/powerpoint/2010/main" val="3752942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81F19-1BA7-8E92-9D50-E2328F521B46}"/>
              </a:ext>
            </a:extLst>
          </p:cNvPr>
          <p:cNvSpPr>
            <a:spLocks noGrp="1"/>
          </p:cNvSpPr>
          <p:nvPr>
            <p:ph type="title"/>
          </p:nvPr>
        </p:nvSpPr>
        <p:spPr/>
        <p:txBody>
          <a:bodyPr>
            <a:normAutofit/>
          </a:bodyPr>
          <a:lstStyle/>
          <a:p>
            <a:r>
              <a:rPr lang="en-US" sz="4800" dirty="0"/>
              <a:t>Studies Using Computation/Statistical Modeling (N = 33)</a:t>
            </a:r>
          </a:p>
        </p:txBody>
      </p:sp>
      <p:sp>
        <p:nvSpPr>
          <p:cNvPr id="3" name="Content Placeholder 2">
            <a:extLst>
              <a:ext uri="{FF2B5EF4-FFF2-40B4-BE49-F238E27FC236}">
                <a16:creationId xmlns:a16="http://schemas.microsoft.com/office/drawing/2014/main" id="{931CF463-E87D-4862-70F9-D766641CE371}"/>
              </a:ext>
            </a:extLst>
          </p:cNvPr>
          <p:cNvSpPr>
            <a:spLocks noGrp="1"/>
          </p:cNvSpPr>
          <p:nvPr>
            <p:ph idx="1"/>
          </p:nvPr>
        </p:nvSpPr>
        <p:spPr/>
        <p:txBody>
          <a:bodyPr>
            <a:normAutofit lnSpcReduction="10000"/>
          </a:bodyPr>
          <a:lstStyle/>
          <a:p>
            <a:r>
              <a:rPr lang="en-US" sz="3200" dirty="0"/>
              <a:t>Methodology: </a:t>
            </a:r>
          </a:p>
          <a:p>
            <a:pPr lvl="1"/>
            <a:r>
              <a:rPr lang="en-US" sz="2400" dirty="0"/>
              <a:t>19 used data from observations</a:t>
            </a:r>
          </a:p>
          <a:p>
            <a:pPr lvl="1"/>
            <a:r>
              <a:rPr lang="en-US" sz="2400" dirty="0"/>
              <a:t>19 used survey/questionnaire data; note 2 EMA studies</a:t>
            </a:r>
          </a:p>
          <a:p>
            <a:pPr lvl="1"/>
            <a:r>
              <a:rPr lang="en-US" sz="2400" dirty="0"/>
              <a:t>2  used record data</a:t>
            </a:r>
          </a:p>
          <a:p>
            <a:r>
              <a:rPr lang="en-US" sz="2933" dirty="0"/>
              <a:t>Types of Computation/Statistical Modeling Used:</a:t>
            </a:r>
          </a:p>
          <a:p>
            <a:pPr lvl="1"/>
            <a:r>
              <a:rPr lang="en-US" sz="2400" dirty="0"/>
              <a:t>Calculated Scores: 22 studies</a:t>
            </a:r>
          </a:p>
          <a:p>
            <a:pPr lvl="2"/>
            <a:r>
              <a:rPr lang="en-US" sz="1867" dirty="0"/>
              <a:t>Variance statistics (</a:t>
            </a:r>
            <a:r>
              <a:rPr lang="en-US" sz="1867" i="1" dirty="0"/>
              <a:t>SD</a:t>
            </a:r>
            <a:r>
              <a:rPr lang="en-US" sz="1867" dirty="0"/>
              <a:t>, </a:t>
            </a:r>
            <a:r>
              <a:rPr lang="en-US" sz="1867" i="1" dirty="0"/>
              <a:t>CV, MSSD</a:t>
            </a:r>
            <a:r>
              <a:rPr lang="en-US" sz="1867" dirty="0"/>
              <a:t>): 7 studies</a:t>
            </a:r>
          </a:p>
          <a:p>
            <a:pPr lvl="2"/>
            <a:r>
              <a:rPr lang="en-US" sz="1867" dirty="0"/>
              <a:t>Correlation/autocorrelation: 5 studies</a:t>
            </a:r>
          </a:p>
          <a:p>
            <a:pPr lvl="2"/>
            <a:r>
              <a:rPr lang="en-US" sz="1867" dirty="0"/>
              <a:t>Change scores: 3 studies</a:t>
            </a:r>
          </a:p>
          <a:p>
            <a:pPr lvl="2"/>
            <a:r>
              <a:rPr lang="en-US" sz="1867" dirty="0"/>
              <a:t>Entropy: 3 studies</a:t>
            </a:r>
          </a:p>
          <a:p>
            <a:pPr lvl="2"/>
            <a:r>
              <a:rPr lang="en-US" sz="1867" dirty="0"/>
              <a:t>Others: 1 annualized placement rate, 2 on friendship nomination network, 1 socio-spatial analysis, </a:t>
            </a:r>
          </a:p>
          <a:p>
            <a:pPr lvl="1"/>
            <a:r>
              <a:rPr lang="en-US" sz="2400" dirty="0"/>
              <a:t>Modeling: 11 studies</a:t>
            </a:r>
          </a:p>
          <a:p>
            <a:pPr lvl="2"/>
            <a:r>
              <a:rPr lang="en-US" sz="1867" dirty="0"/>
              <a:t>Factor analysis: 3 studies</a:t>
            </a:r>
          </a:p>
          <a:p>
            <a:pPr lvl="2"/>
            <a:r>
              <a:rPr lang="en-US" sz="1867" dirty="0"/>
              <a:t>Growth curve modeling: 3 studies</a:t>
            </a:r>
          </a:p>
          <a:p>
            <a:pPr lvl="2"/>
            <a:r>
              <a:rPr lang="en-US" sz="1867" dirty="0"/>
              <a:t>Others: 1 ARCL, 1 LCA, 1 sequence analysis, 1 MIXWILD, 1 measurement invariance testing</a:t>
            </a:r>
          </a:p>
          <a:p>
            <a:pPr lvl="1"/>
            <a:endParaRPr lang="en-US" sz="2400" dirty="0"/>
          </a:p>
          <a:p>
            <a:pPr lvl="1"/>
            <a:endParaRPr lang="en-US" sz="2400" dirty="0"/>
          </a:p>
        </p:txBody>
      </p:sp>
    </p:spTree>
    <p:extLst>
      <p:ext uri="{BB962C8B-B14F-4D97-AF65-F5344CB8AC3E}">
        <p14:creationId xmlns:p14="http://schemas.microsoft.com/office/powerpoint/2010/main" val="1420750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81F19-1BA7-8E92-9D50-E2328F521B46}"/>
              </a:ext>
            </a:extLst>
          </p:cNvPr>
          <p:cNvSpPr>
            <a:spLocks noGrp="1"/>
          </p:cNvSpPr>
          <p:nvPr>
            <p:ph type="title"/>
          </p:nvPr>
        </p:nvSpPr>
        <p:spPr/>
        <p:txBody>
          <a:bodyPr>
            <a:normAutofit/>
          </a:bodyPr>
          <a:lstStyle/>
          <a:p>
            <a:r>
              <a:rPr lang="en-US" sz="4800" dirty="0"/>
              <a:t>Studies Using Computation/Statistical Modeling (N = 33)</a:t>
            </a:r>
          </a:p>
        </p:txBody>
      </p:sp>
      <p:sp>
        <p:nvSpPr>
          <p:cNvPr id="3" name="Content Placeholder 2">
            <a:extLst>
              <a:ext uri="{FF2B5EF4-FFF2-40B4-BE49-F238E27FC236}">
                <a16:creationId xmlns:a16="http://schemas.microsoft.com/office/drawing/2014/main" id="{931CF463-E87D-4862-70F9-D766641CE371}"/>
              </a:ext>
            </a:extLst>
          </p:cNvPr>
          <p:cNvSpPr>
            <a:spLocks noGrp="1"/>
          </p:cNvSpPr>
          <p:nvPr>
            <p:ph idx="1"/>
          </p:nvPr>
        </p:nvSpPr>
        <p:spPr>
          <a:xfrm>
            <a:off x="942975" y="2434167"/>
            <a:ext cx="11830050" cy="6377324"/>
          </a:xfrm>
        </p:spPr>
        <p:txBody>
          <a:bodyPr>
            <a:normAutofit fontScale="92500" lnSpcReduction="20000"/>
          </a:bodyPr>
          <a:lstStyle/>
          <a:p>
            <a:r>
              <a:rPr lang="en-US" sz="3200" dirty="0"/>
              <a:t>Ecological Context: Mostly proximal contexts</a:t>
            </a:r>
          </a:p>
          <a:p>
            <a:pPr lvl="1"/>
            <a:r>
              <a:rPr lang="en-US" sz="2667" dirty="0"/>
              <a:t>3 within individual – on child routines </a:t>
            </a:r>
          </a:p>
          <a:p>
            <a:pPr lvl="1"/>
            <a:r>
              <a:rPr lang="en-US" sz="2667" dirty="0"/>
              <a:t>10 in parenting behaviors</a:t>
            </a:r>
            <a:endParaRPr lang="en-US" sz="3200" dirty="0"/>
          </a:p>
          <a:p>
            <a:pPr lvl="1"/>
            <a:r>
              <a:rPr lang="en-US" sz="2667" dirty="0"/>
              <a:t>14 in home/family context</a:t>
            </a:r>
          </a:p>
          <a:p>
            <a:pPr lvl="1"/>
            <a:r>
              <a:rPr lang="en-US" sz="2667" dirty="0"/>
              <a:t>6 in ECE/classroom/teaching context</a:t>
            </a:r>
          </a:p>
          <a:p>
            <a:pPr lvl="1"/>
            <a:r>
              <a:rPr lang="en-US" sz="2667" dirty="0"/>
              <a:t>2 in friendship network context</a:t>
            </a:r>
          </a:p>
          <a:p>
            <a:r>
              <a:rPr lang="en-US" sz="3200" dirty="0"/>
              <a:t>Timescale</a:t>
            </a:r>
          </a:p>
          <a:p>
            <a:pPr lvl="1"/>
            <a:r>
              <a:rPr lang="en-US" sz="2667" dirty="0"/>
              <a:t>Micro (moment-to-moment): 5 studies – including 4 micro-coding &amp; 1 LENA studies</a:t>
            </a:r>
          </a:p>
          <a:p>
            <a:pPr lvl="1"/>
            <a:r>
              <a:rPr lang="en-US" sz="2667" dirty="0" err="1"/>
              <a:t>Meso</a:t>
            </a:r>
            <a:r>
              <a:rPr lang="en-US" sz="2667" dirty="0"/>
              <a:t> (across contexts/situations or across time </a:t>
            </a:r>
            <a:r>
              <a:rPr lang="en-US" sz="2667" dirty="0">
                <a:solidFill>
                  <a:srgbClr val="C00000"/>
                </a:solidFill>
              </a:rPr>
              <a:t>&gt;5 min</a:t>
            </a:r>
            <a:r>
              <a:rPr lang="en-US" sz="2667" dirty="0"/>
              <a:t>): 12 studies</a:t>
            </a:r>
          </a:p>
          <a:p>
            <a:pPr lvl="1"/>
            <a:r>
              <a:rPr lang="en-US" sz="2667" dirty="0"/>
              <a:t>Macro (across months/years): 16 studies– assessing stability of a context construct (e.g., maternal sensitivity) over time</a:t>
            </a:r>
          </a:p>
          <a:p>
            <a:r>
              <a:rPr lang="en-US" sz="3200" dirty="0"/>
              <a:t>Valence:</a:t>
            </a:r>
          </a:p>
          <a:p>
            <a:pPr lvl="1"/>
            <a:r>
              <a:rPr lang="en-US" sz="2667" dirty="0"/>
              <a:t>Developmentally inhibiting (negative): 9 studies</a:t>
            </a:r>
          </a:p>
          <a:p>
            <a:pPr lvl="1"/>
            <a:r>
              <a:rPr lang="en-US" sz="2667" dirty="0"/>
              <a:t>Developmentally promoting (positive): 19 studies</a:t>
            </a:r>
          </a:p>
          <a:p>
            <a:pPr lvl="1"/>
            <a:r>
              <a:rPr lang="en-US" sz="2667" dirty="0"/>
              <a:t>2 studies (on routines) undetermined: 7 studies </a:t>
            </a:r>
          </a:p>
          <a:p>
            <a:r>
              <a:rPr lang="en-US" sz="3200" dirty="0"/>
              <a:t>Subjective/Objective: All objective</a:t>
            </a:r>
            <a:endParaRPr lang="en-US" sz="1867" dirty="0"/>
          </a:p>
          <a:p>
            <a:pPr lvl="1"/>
            <a:endParaRPr lang="en-US" sz="2400" dirty="0"/>
          </a:p>
          <a:p>
            <a:pPr lvl="1"/>
            <a:endParaRPr lang="en-US" sz="2400" dirty="0"/>
          </a:p>
        </p:txBody>
      </p:sp>
    </p:spTree>
    <p:extLst>
      <p:ext uri="{BB962C8B-B14F-4D97-AF65-F5344CB8AC3E}">
        <p14:creationId xmlns:p14="http://schemas.microsoft.com/office/powerpoint/2010/main" val="346602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B44F6-5C5A-6A98-FE12-DE34FF80A166}"/>
              </a:ext>
            </a:extLst>
          </p:cNvPr>
          <p:cNvSpPr>
            <a:spLocks noGrp="1"/>
          </p:cNvSpPr>
          <p:nvPr>
            <p:ph type="title"/>
          </p:nvPr>
        </p:nvSpPr>
        <p:spPr/>
        <p:txBody>
          <a:bodyPr/>
          <a:lstStyle/>
          <a:p>
            <a:r>
              <a:rPr lang="en-US" dirty="0"/>
              <a:t>Studies Using Record/Administrative Data (N = 17)</a:t>
            </a:r>
          </a:p>
        </p:txBody>
      </p:sp>
      <p:sp>
        <p:nvSpPr>
          <p:cNvPr id="3" name="Content Placeholder 2">
            <a:extLst>
              <a:ext uri="{FF2B5EF4-FFF2-40B4-BE49-F238E27FC236}">
                <a16:creationId xmlns:a16="http://schemas.microsoft.com/office/drawing/2014/main" id="{03E63405-F651-9AEE-46BA-CE96180D87A1}"/>
              </a:ext>
            </a:extLst>
          </p:cNvPr>
          <p:cNvSpPr>
            <a:spLocks noGrp="1"/>
          </p:cNvSpPr>
          <p:nvPr>
            <p:ph idx="1"/>
          </p:nvPr>
        </p:nvSpPr>
        <p:spPr/>
        <p:txBody>
          <a:bodyPr/>
          <a:lstStyle/>
          <a:p>
            <a:r>
              <a:rPr lang="en-US" sz="3200" dirty="0"/>
              <a:t>Methodology: </a:t>
            </a:r>
          </a:p>
          <a:p>
            <a:pPr lvl="1"/>
            <a:r>
              <a:rPr lang="en-US" sz="2667" dirty="0"/>
              <a:t>Five studies include questionnaire/surveys as well</a:t>
            </a:r>
          </a:p>
          <a:p>
            <a:pPr lvl="1"/>
            <a:r>
              <a:rPr lang="en-US" sz="2667" dirty="0"/>
              <a:t>One study includes using computation to capture unpredictability</a:t>
            </a:r>
          </a:p>
          <a:p>
            <a:r>
              <a:rPr lang="en-US" sz="3200" dirty="0"/>
              <a:t>Captured Constructs: All studies except for one use record data to capture instability. The other study is on neighborhood social fragmentation (census tract data)</a:t>
            </a:r>
          </a:p>
          <a:p>
            <a:pPr lvl="1"/>
            <a:r>
              <a:rPr lang="en-US" sz="2667" dirty="0"/>
              <a:t>10 studies on foster care placement instability</a:t>
            </a:r>
          </a:p>
          <a:p>
            <a:pPr lvl="1"/>
            <a:r>
              <a:rPr lang="en-US" sz="2667" dirty="0"/>
              <a:t>3 on child care instability</a:t>
            </a:r>
          </a:p>
          <a:p>
            <a:pPr lvl="1"/>
            <a:r>
              <a:rPr lang="en-US" sz="2667" dirty="0"/>
              <a:t>2 on caregiving/family instability</a:t>
            </a:r>
          </a:p>
          <a:p>
            <a:pPr lvl="1"/>
            <a:r>
              <a:rPr lang="en-US" sz="2667" dirty="0"/>
              <a:t>1 on political instability. </a:t>
            </a:r>
          </a:p>
        </p:txBody>
      </p:sp>
    </p:spTree>
    <p:extLst>
      <p:ext uri="{BB962C8B-B14F-4D97-AF65-F5344CB8AC3E}">
        <p14:creationId xmlns:p14="http://schemas.microsoft.com/office/powerpoint/2010/main" val="876402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81F19-1BA7-8E92-9D50-E2328F521B46}"/>
              </a:ext>
            </a:extLst>
          </p:cNvPr>
          <p:cNvSpPr>
            <a:spLocks noGrp="1"/>
          </p:cNvSpPr>
          <p:nvPr>
            <p:ph type="title"/>
          </p:nvPr>
        </p:nvSpPr>
        <p:spPr/>
        <p:txBody>
          <a:bodyPr>
            <a:normAutofit/>
          </a:bodyPr>
          <a:lstStyle/>
          <a:p>
            <a:r>
              <a:rPr lang="en-US" sz="6000" dirty="0"/>
              <a:t>Studies Using Record/Administrative Data (N = 17)</a:t>
            </a:r>
          </a:p>
        </p:txBody>
      </p:sp>
      <p:sp>
        <p:nvSpPr>
          <p:cNvPr id="3" name="Content Placeholder 2">
            <a:extLst>
              <a:ext uri="{FF2B5EF4-FFF2-40B4-BE49-F238E27FC236}">
                <a16:creationId xmlns:a16="http://schemas.microsoft.com/office/drawing/2014/main" id="{931CF463-E87D-4862-70F9-D766641CE371}"/>
              </a:ext>
            </a:extLst>
          </p:cNvPr>
          <p:cNvSpPr>
            <a:spLocks noGrp="1"/>
          </p:cNvSpPr>
          <p:nvPr>
            <p:ph idx="1"/>
          </p:nvPr>
        </p:nvSpPr>
        <p:spPr>
          <a:xfrm>
            <a:off x="942975" y="2434167"/>
            <a:ext cx="11830050" cy="6377324"/>
          </a:xfrm>
        </p:spPr>
        <p:txBody>
          <a:bodyPr>
            <a:normAutofit/>
          </a:bodyPr>
          <a:lstStyle/>
          <a:p>
            <a:r>
              <a:rPr lang="en-US" sz="3200" dirty="0"/>
              <a:t>Ecological Context: Mostly proximal contexts, with 2 studies on distal context (1 on political instability, 1 on neighborhood social fragmentation)</a:t>
            </a:r>
          </a:p>
          <a:p>
            <a:pPr lvl="1"/>
            <a:r>
              <a:rPr lang="en-US" sz="2667" dirty="0"/>
              <a:t>13 in home/family/caregiving context</a:t>
            </a:r>
          </a:p>
          <a:p>
            <a:pPr lvl="1"/>
            <a:r>
              <a:rPr lang="en-US" sz="2667" dirty="0"/>
              <a:t>3 in ECE/classroom/teaching context</a:t>
            </a:r>
          </a:p>
          <a:p>
            <a:r>
              <a:rPr lang="en-US" sz="3200" dirty="0"/>
              <a:t>Timescale: All  macro – assessing instability across months/years</a:t>
            </a:r>
          </a:p>
          <a:p>
            <a:r>
              <a:rPr lang="en-US" sz="3200" dirty="0"/>
              <a:t>Valence: Mostly undetermined </a:t>
            </a:r>
          </a:p>
          <a:p>
            <a:pPr lvl="1"/>
            <a:r>
              <a:rPr lang="en-US" sz="2667" dirty="0"/>
              <a:t>Developmentally inhibiting (negative): 2 studies</a:t>
            </a:r>
          </a:p>
          <a:p>
            <a:pPr lvl="1"/>
            <a:r>
              <a:rPr lang="en-US" sz="2667" dirty="0"/>
              <a:t>Developmentally promoting (positive): 1 studies</a:t>
            </a:r>
          </a:p>
          <a:p>
            <a:r>
              <a:rPr lang="en-US" sz="3200" dirty="0"/>
              <a:t>Subjective/Objective: All objective</a:t>
            </a:r>
            <a:endParaRPr lang="en-US" sz="1867" dirty="0"/>
          </a:p>
          <a:p>
            <a:pPr lvl="1"/>
            <a:endParaRPr lang="en-US" sz="2400" dirty="0"/>
          </a:p>
          <a:p>
            <a:pPr lvl="1"/>
            <a:endParaRPr lang="en-US" sz="2400" dirty="0"/>
          </a:p>
        </p:txBody>
      </p:sp>
    </p:spTree>
    <p:extLst>
      <p:ext uri="{BB962C8B-B14F-4D97-AF65-F5344CB8AC3E}">
        <p14:creationId xmlns:p14="http://schemas.microsoft.com/office/powerpoint/2010/main" val="1944064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81F19-1BA7-8E92-9D50-E2328F521B46}"/>
              </a:ext>
            </a:extLst>
          </p:cNvPr>
          <p:cNvSpPr>
            <a:spLocks noGrp="1"/>
          </p:cNvSpPr>
          <p:nvPr>
            <p:ph type="title"/>
          </p:nvPr>
        </p:nvSpPr>
        <p:spPr/>
        <p:txBody>
          <a:bodyPr>
            <a:normAutofit/>
          </a:bodyPr>
          <a:lstStyle/>
          <a:p>
            <a:r>
              <a:rPr lang="en-US" sz="4800" dirty="0"/>
              <a:t>Studies Where Sample Characteristics Determine Unpredictability (N = 2)</a:t>
            </a:r>
          </a:p>
        </p:txBody>
      </p:sp>
      <p:sp>
        <p:nvSpPr>
          <p:cNvPr id="3" name="Content Placeholder 2">
            <a:extLst>
              <a:ext uri="{FF2B5EF4-FFF2-40B4-BE49-F238E27FC236}">
                <a16:creationId xmlns:a16="http://schemas.microsoft.com/office/drawing/2014/main" id="{931CF463-E87D-4862-70F9-D766641CE371}"/>
              </a:ext>
            </a:extLst>
          </p:cNvPr>
          <p:cNvSpPr>
            <a:spLocks noGrp="1"/>
          </p:cNvSpPr>
          <p:nvPr>
            <p:ph idx="1"/>
          </p:nvPr>
        </p:nvSpPr>
        <p:spPr>
          <a:xfrm>
            <a:off x="942975" y="2434167"/>
            <a:ext cx="11830050" cy="6377324"/>
          </a:xfrm>
        </p:spPr>
        <p:txBody>
          <a:bodyPr>
            <a:normAutofit/>
          </a:bodyPr>
          <a:lstStyle/>
          <a:p>
            <a:r>
              <a:rPr lang="en-US" sz="3200" dirty="0"/>
              <a:t>Sample collected around students’ school transition/classroom changes</a:t>
            </a:r>
          </a:p>
          <a:p>
            <a:r>
              <a:rPr lang="en-US" sz="3200" dirty="0"/>
              <a:t>Ecological Context: Proximal contexts - school</a:t>
            </a:r>
          </a:p>
          <a:p>
            <a:r>
              <a:rPr lang="en-US" sz="3200" dirty="0"/>
              <a:t>Timescale: Macro </a:t>
            </a:r>
          </a:p>
          <a:p>
            <a:r>
              <a:rPr lang="en-US" sz="3200" dirty="0"/>
              <a:t>Valence: Undetermined</a:t>
            </a:r>
            <a:endParaRPr lang="en-US" sz="2667" dirty="0"/>
          </a:p>
          <a:p>
            <a:r>
              <a:rPr lang="en-US" sz="3200" dirty="0"/>
              <a:t>Subjective/Objective: Objective</a:t>
            </a:r>
            <a:endParaRPr lang="en-US" sz="1867" dirty="0"/>
          </a:p>
          <a:p>
            <a:pPr lvl="1"/>
            <a:endParaRPr lang="en-US" sz="2400" dirty="0"/>
          </a:p>
          <a:p>
            <a:pPr lvl="1"/>
            <a:endParaRPr lang="en-US" sz="2400" dirty="0"/>
          </a:p>
        </p:txBody>
      </p:sp>
    </p:spTree>
    <p:extLst>
      <p:ext uri="{BB962C8B-B14F-4D97-AF65-F5344CB8AC3E}">
        <p14:creationId xmlns:p14="http://schemas.microsoft.com/office/powerpoint/2010/main" val="953678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74772-5CCF-DA20-36CC-C74E3AB1EE78}"/>
              </a:ext>
            </a:extLst>
          </p:cNvPr>
          <p:cNvSpPr>
            <a:spLocks noGrp="1"/>
          </p:cNvSpPr>
          <p:nvPr>
            <p:ph type="title"/>
          </p:nvPr>
        </p:nvSpPr>
        <p:spPr/>
        <p:txBody>
          <a:bodyPr/>
          <a:lstStyle/>
          <a:p>
            <a:r>
              <a:rPr lang="en-US" dirty="0"/>
              <a:t>Note as coding questionnaires</a:t>
            </a:r>
          </a:p>
        </p:txBody>
      </p:sp>
      <p:sp>
        <p:nvSpPr>
          <p:cNvPr id="3" name="Content Placeholder 2">
            <a:extLst>
              <a:ext uri="{FF2B5EF4-FFF2-40B4-BE49-F238E27FC236}">
                <a16:creationId xmlns:a16="http://schemas.microsoft.com/office/drawing/2014/main" id="{BC1FD758-8394-FC12-113A-BEE5E7A48488}"/>
              </a:ext>
            </a:extLst>
          </p:cNvPr>
          <p:cNvSpPr>
            <a:spLocks noGrp="1"/>
          </p:cNvSpPr>
          <p:nvPr>
            <p:ph idx="1"/>
          </p:nvPr>
        </p:nvSpPr>
        <p:spPr/>
        <p:txBody>
          <a:bodyPr/>
          <a:lstStyle/>
          <a:p>
            <a:r>
              <a:rPr lang="en-US" dirty="0"/>
              <a:t>CHAOS – should it be objective or subjective? Leaning towards objective but uncertain. Also, reporter matter – if it’s child reported, could it be subjective? </a:t>
            </a:r>
          </a:p>
          <a:p>
            <a:r>
              <a:rPr lang="en-US" dirty="0"/>
              <a:t>Evaluate subjectivity of these measures: CHAOS, QUIC, Childhood Unpredictability Scale, work based on </a:t>
            </a:r>
            <a:r>
              <a:rPr lang="en-US"/>
              <a:t>Mittel’s scale</a:t>
            </a:r>
          </a:p>
          <a:p>
            <a:endParaRPr lang="en-US" dirty="0"/>
          </a:p>
        </p:txBody>
      </p:sp>
      <p:sp>
        <p:nvSpPr>
          <p:cNvPr id="4" name="TextBox 3">
            <a:extLst>
              <a:ext uri="{FF2B5EF4-FFF2-40B4-BE49-F238E27FC236}">
                <a16:creationId xmlns:a16="http://schemas.microsoft.com/office/drawing/2014/main" id="{24503280-C1A8-7240-4EAF-440D19F307F0}"/>
              </a:ext>
            </a:extLst>
          </p:cNvPr>
          <p:cNvSpPr txBox="1"/>
          <p:nvPr/>
        </p:nvSpPr>
        <p:spPr>
          <a:xfrm>
            <a:off x="15223067" y="690880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553005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01959-F182-9467-26E1-4D5CF00D976A}"/>
              </a:ext>
            </a:extLst>
          </p:cNvPr>
          <p:cNvSpPr>
            <a:spLocks noGrp="1"/>
          </p:cNvSpPr>
          <p:nvPr>
            <p:ph type="title"/>
          </p:nvPr>
        </p:nvSpPr>
        <p:spPr/>
        <p:txBody>
          <a:bodyPr/>
          <a:lstStyle/>
          <a:p>
            <a:r>
              <a:rPr lang="en-US" dirty="0"/>
              <a:t>Davis and Glynn 2024</a:t>
            </a:r>
          </a:p>
        </p:txBody>
      </p:sp>
      <p:sp>
        <p:nvSpPr>
          <p:cNvPr id="3" name="Content Placeholder 2">
            <a:extLst>
              <a:ext uri="{FF2B5EF4-FFF2-40B4-BE49-F238E27FC236}">
                <a16:creationId xmlns:a16="http://schemas.microsoft.com/office/drawing/2014/main" id="{D7E8ACF8-F4B7-04EC-F2A1-7B33E3069EF1}"/>
              </a:ext>
            </a:extLst>
          </p:cNvPr>
          <p:cNvSpPr>
            <a:spLocks noGrp="1"/>
          </p:cNvSpPr>
          <p:nvPr>
            <p:ph idx="1"/>
          </p:nvPr>
        </p:nvSpPr>
        <p:spPr>
          <a:xfrm>
            <a:off x="942975" y="1828800"/>
            <a:ext cx="11830050" cy="7196667"/>
          </a:xfrm>
        </p:spPr>
        <p:txBody>
          <a:bodyPr>
            <a:normAutofit fontScale="92500" lnSpcReduction="10000"/>
          </a:bodyPr>
          <a:lstStyle/>
          <a:p>
            <a:r>
              <a:rPr lang="en-US" sz="3200" dirty="0"/>
              <a:t>Similar: </a:t>
            </a:r>
          </a:p>
          <a:p>
            <a:pPr lvl="1"/>
            <a:r>
              <a:rPr lang="en-US" sz="2400" dirty="0"/>
              <a:t>Also propose timescale &amp; context as important factors to consider</a:t>
            </a:r>
          </a:p>
          <a:p>
            <a:pPr lvl="1"/>
            <a:r>
              <a:rPr lang="en-US" sz="2400" dirty="0"/>
              <a:t>This paper provides excellent summary on various impacts of unpredictability on CD. Reconsider if we want to still include this in our paper? </a:t>
            </a:r>
          </a:p>
          <a:p>
            <a:r>
              <a:rPr lang="en-US" sz="3200" dirty="0"/>
              <a:t>Different Focus: </a:t>
            </a:r>
          </a:p>
          <a:p>
            <a:pPr lvl="1"/>
            <a:r>
              <a:rPr lang="en-US" sz="2400" dirty="0"/>
              <a:t>Highlight unpredictability in signal patterns of sensory systems, moment-to-moment changes, hypothesize that these sensory patterns are intermediate mechanisms through which other forms of early adversity shape neurodevelopment via alterations of synaptic connections &amp; circuit formation</a:t>
            </a:r>
          </a:p>
          <a:p>
            <a:pPr lvl="1"/>
            <a:r>
              <a:rPr lang="en-US" sz="2400" dirty="0"/>
              <a:t>The discussion, especially the focus on parental behaviors &amp; sensory signals seem to highlight early childhood as a sensitive period. Discussion on adolescence &amp; development over time is limited. </a:t>
            </a:r>
          </a:p>
          <a:p>
            <a:pPr lvl="1"/>
            <a:r>
              <a:rPr lang="en-US" sz="2400" dirty="0"/>
              <a:t>Focus on unpredictability mainly in family environment (with the exception of discussions on child care unpredictability). Not much info on broader context unpredictability</a:t>
            </a:r>
          </a:p>
          <a:p>
            <a:pPr lvl="1"/>
            <a:r>
              <a:rPr lang="en-US" sz="2400" dirty="0"/>
              <a:t>Household chaos: this paper separates disorganization and instability components of chaos and identify instability to be more consistent with unpredictability. But I think disorganization &amp; lack of structure is also a component of unpredictability. </a:t>
            </a:r>
          </a:p>
          <a:p>
            <a:pPr lvl="1"/>
            <a:r>
              <a:rPr lang="en-US" sz="2400" dirty="0"/>
              <a:t>No discussion on subjective experiences vs. objective perceptions</a:t>
            </a:r>
          </a:p>
          <a:p>
            <a:r>
              <a:rPr lang="en-US" sz="3200" dirty="0"/>
              <a:t>Relevant concepts this paper briefly mentioned: attachment (very briefly), emotional regulation (in relation to parental mood instability), and effortful control </a:t>
            </a:r>
          </a:p>
          <a:p>
            <a:pPr marL="0" indent="0">
              <a:buNone/>
            </a:pPr>
            <a:endParaRPr lang="en-US" sz="3200" dirty="0"/>
          </a:p>
        </p:txBody>
      </p:sp>
    </p:spTree>
    <p:extLst>
      <p:ext uri="{BB962C8B-B14F-4D97-AF65-F5344CB8AC3E}">
        <p14:creationId xmlns:p14="http://schemas.microsoft.com/office/powerpoint/2010/main" val="472276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30336-C9B8-A306-617F-5A38CC12854E}"/>
              </a:ext>
            </a:extLst>
          </p:cNvPr>
          <p:cNvSpPr>
            <a:spLocks noGrp="1"/>
          </p:cNvSpPr>
          <p:nvPr>
            <p:ph type="title"/>
          </p:nvPr>
        </p:nvSpPr>
        <p:spPr/>
        <p:txBody>
          <a:bodyPr/>
          <a:lstStyle/>
          <a:p>
            <a:r>
              <a:rPr lang="en-US" dirty="0"/>
              <a:t>Survey/Questionnaire Studies (N = 20)</a:t>
            </a:r>
          </a:p>
        </p:txBody>
      </p:sp>
      <p:sp>
        <p:nvSpPr>
          <p:cNvPr id="3" name="Content Placeholder 2">
            <a:extLst>
              <a:ext uri="{FF2B5EF4-FFF2-40B4-BE49-F238E27FC236}">
                <a16:creationId xmlns:a16="http://schemas.microsoft.com/office/drawing/2014/main" id="{496B583F-E446-F2CA-7317-EB46EDA0D64F}"/>
              </a:ext>
            </a:extLst>
          </p:cNvPr>
          <p:cNvSpPr>
            <a:spLocks noGrp="1"/>
          </p:cNvSpPr>
          <p:nvPr>
            <p:ph idx="1"/>
          </p:nvPr>
        </p:nvSpPr>
        <p:spPr>
          <a:xfrm>
            <a:off x="942975" y="1947332"/>
            <a:ext cx="12522302" cy="6709833"/>
          </a:xfrm>
        </p:spPr>
        <p:txBody>
          <a:bodyPr>
            <a:normAutofit/>
          </a:bodyPr>
          <a:lstStyle/>
          <a:p>
            <a:r>
              <a:rPr lang="en-US" sz="3200" dirty="0"/>
              <a:t>Methodology: </a:t>
            </a:r>
          </a:p>
          <a:p>
            <a:pPr lvl="1"/>
            <a:r>
              <a:rPr lang="en-US" sz="2667" dirty="0"/>
              <a:t>1 study also used experimental protocols</a:t>
            </a:r>
          </a:p>
          <a:p>
            <a:pPr lvl="1"/>
            <a:r>
              <a:rPr lang="en-US" sz="2667" dirty="0"/>
              <a:t>6 studies also used observations</a:t>
            </a:r>
          </a:p>
          <a:p>
            <a:pPr lvl="1"/>
            <a:r>
              <a:rPr lang="en-US" sz="2667" dirty="0"/>
              <a:t>19 studies used statistical modeling or computations</a:t>
            </a:r>
          </a:p>
          <a:p>
            <a:pPr lvl="1"/>
            <a:r>
              <a:rPr lang="en-US" sz="2667" dirty="0"/>
              <a:t>5 studies used record data</a:t>
            </a:r>
          </a:p>
          <a:p>
            <a:pPr lvl="1"/>
            <a:r>
              <a:rPr lang="en-US" sz="2667" dirty="0"/>
              <a:t>116 studies rely purely on surveys/questionnaires </a:t>
            </a:r>
          </a:p>
          <a:p>
            <a:r>
              <a:rPr lang="en-US" sz="3200" dirty="0"/>
              <a:t>Ecological context: Mostly proximal contexts</a:t>
            </a:r>
          </a:p>
          <a:p>
            <a:pPr lvl="1"/>
            <a:r>
              <a:rPr lang="en-US" sz="2667" dirty="0"/>
              <a:t>21 within individual</a:t>
            </a:r>
          </a:p>
          <a:p>
            <a:pPr lvl="2"/>
            <a:r>
              <a:rPr lang="en-US" sz="2134" dirty="0"/>
              <a:t>Mostly on child routines</a:t>
            </a:r>
          </a:p>
          <a:p>
            <a:pPr lvl="2"/>
            <a:r>
              <a:rPr lang="en-US" sz="2134" dirty="0"/>
              <a:t>4 on children’s subjective perceptions about unpredictability</a:t>
            </a:r>
          </a:p>
          <a:p>
            <a:pPr lvl="1"/>
            <a:r>
              <a:rPr lang="en-US" sz="2667" dirty="0"/>
              <a:t>7 in parenting behaviors</a:t>
            </a:r>
          </a:p>
          <a:p>
            <a:pPr lvl="1"/>
            <a:r>
              <a:rPr lang="en-US" sz="2667" dirty="0"/>
              <a:t>7 in home/family context</a:t>
            </a:r>
          </a:p>
          <a:p>
            <a:pPr lvl="1"/>
            <a:r>
              <a:rPr lang="en-US" sz="2667" dirty="0"/>
              <a:t>5 in ECE/classroom/teaching context</a:t>
            </a:r>
            <a:endParaRPr lang="en-US" sz="3200" dirty="0"/>
          </a:p>
          <a:p>
            <a:endParaRPr lang="en-US" sz="3200" dirty="0"/>
          </a:p>
        </p:txBody>
      </p:sp>
    </p:spTree>
    <p:extLst>
      <p:ext uri="{BB962C8B-B14F-4D97-AF65-F5344CB8AC3E}">
        <p14:creationId xmlns:p14="http://schemas.microsoft.com/office/powerpoint/2010/main" val="3638446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30336-C9B8-A306-617F-5A38CC12854E}"/>
              </a:ext>
            </a:extLst>
          </p:cNvPr>
          <p:cNvSpPr>
            <a:spLocks noGrp="1"/>
          </p:cNvSpPr>
          <p:nvPr>
            <p:ph type="title"/>
          </p:nvPr>
        </p:nvSpPr>
        <p:spPr>
          <a:xfrm>
            <a:off x="942974" y="486835"/>
            <a:ext cx="12366625" cy="1767417"/>
          </a:xfrm>
        </p:spPr>
        <p:txBody>
          <a:bodyPr/>
          <a:lstStyle/>
          <a:p>
            <a:r>
              <a:rPr lang="en-US" dirty="0"/>
              <a:t>Survey/Questionnaire Studies (N = 141)</a:t>
            </a:r>
          </a:p>
        </p:txBody>
      </p:sp>
      <p:sp>
        <p:nvSpPr>
          <p:cNvPr id="3" name="Content Placeholder 2">
            <a:extLst>
              <a:ext uri="{FF2B5EF4-FFF2-40B4-BE49-F238E27FC236}">
                <a16:creationId xmlns:a16="http://schemas.microsoft.com/office/drawing/2014/main" id="{496B583F-E446-F2CA-7317-EB46EDA0D64F}"/>
              </a:ext>
            </a:extLst>
          </p:cNvPr>
          <p:cNvSpPr>
            <a:spLocks noGrp="1"/>
          </p:cNvSpPr>
          <p:nvPr>
            <p:ph idx="1"/>
          </p:nvPr>
        </p:nvSpPr>
        <p:spPr>
          <a:xfrm>
            <a:off x="942975" y="1947332"/>
            <a:ext cx="12522302" cy="6709833"/>
          </a:xfrm>
        </p:spPr>
        <p:txBody>
          <a:bodyPr>
            <a:normAutofit/>
          </a:bodyPr>
          <a:lstStyle/>
          <a:p>
            <a:r>
              <a:rPr lang="en-US" sz="3200" dirty="0"/>
              <a:t>Timescale: 16 studies have this information, 4 studies (on HOME observations) timescale undetermined</a:t>
            </a:r>
          </a:p>
          <a:p>
            <a:pPr lvl="1"/>
            <a:r>
              <a:rPr lang="en-US" sz="2667" dirty="0"/>
              <a:t>Micro (moment-to-moment): 5 studies – including 4 micro-coding &amp; 1 LENA studies</a:t>
            </a:r>
          </a:p>
          <a:p>
            <a:pPr lvl="1"/>
            <a:r>
              <a:rPr lang="en-US" sz="2667" dirty="0" err="1"/>
              <a:t>Meso</a:t>
            </a:r>
            <a:r>
              <a:rPr lang="en-US" sz="2667" dirty="0"/>
              <a:t> (across contexts/situations or across time </a:t>
            </a:r>
            <a:r>
              <a:rPr lang="en-US" sz="2667" dirty="0">
                <a:solidFill>
                  <a:srgbClr val="C00000"/>
                </a:solidFill>
              </a:rPr>
              <a:t>&gt;5 min</a:t>
            </a:r>
            <a:r>
              <a:rPr lang="en-US" sz="2667" dirty="0"/>
              <a:t>): 9 studies</a:t>
            </a:r>
          </a:p>
          <a:p>
            <a:pPr lvl="1"/>
            <a:r>
              <a:rPr lang="en-US" sz="2667" dirty="0"/>
              <a:t>Macro (across months/years): 5 studies– assessing stability of a context construct (e.g., maternal sensitivity) over time</a:t>
            </a:r>
          </a:p>
          <a:p>
            <a:r>
              <a:rPr lang="en-US" sz="3200" dirty="0"/>
              <a:t>Valence:</a:t>
            </a:r>
          </a:p>
          <a:p>
            <a:pPr lvl="1"/>
            <a:r>
              <a:rPr lang="en-US" sz="2667" dirty="0"/>
              <a:t>Developmentally inhibiting (negative): 5 studies, including 4 on household chaos &amp; 1 on maternal hostility</a:t>
            </a:r>
          </a:p>
          <a:p>
            <a:pPr lvl="1"/>
            <a:r>
              <a:rPr lang="en-US" sz="2667" dirty="0"/>
              <a:t>Developmentally promoting (positive): 13 studies</a:t>
            </a:r>
          </a:p>
          <a:p>
            <a:pPr lvl="1"/>
            <a:r>
              <a:rPr lang="en-US" sz="2667" dirty="0"/>
              <a:t>2 studies (on routines) undetermined</a:t>
            </a:r>
          </a:p>
          <a:p>
            <a:r>
              <a:rPr lang="en-US" sz="3200" dirty="0"/>
              <a:t>Subjective/Objective: all objective</a:t>
            </a:r>
          </a:p>
          <a:p>
            <a:pPr marL="0" indent="0">
              <a:buNone/>
            </a:pPr>
            <a:endParaRPr lang="en-US" sz="3200" dirty="0"/>
          </a:p>
          <a:p>
            <a:endParaRPr lang="en-US" sz="3200" dirty="0"/>
          </a:p>
        </p:txBody>
      </p:sp>
    </p:spTree>
    <p:extLst>
      <p:ext uri="{BB962C8B-B14F-4D97-AF65-F5344CB8AC3E}">
        <p14:creationId xmlns:p14="http://schemas.microsoft.com/office/powerpoint/2010/main" val="12408465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5939</TotalTime>
  <Words>2946</Words>
  <Application>Microsoft Macintosh PowerPoint</Application>
  <PresentationFormat>Custom</PresentationFormat>
  <Paragraphs>291</Paragraphs>
  <Slides>18</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Conclusions We Can Draw So Far (Need to be Validated with Questionnaire-Based Studies)</vt:lpstr>
      <vt:lpstr>Slides below are summaries of each type of studies. </vt:lpstr>
      <vt:lpstr>Observational Studies (N = 20)</vt:lpstr>
      <vt:lpstr>Observational Studies (N = 20)</vt:lpstr>
      <vt:lpstr>Studies Using Computation/Statistical Modeling (N = 33)</vt:lpstr>
      <vt:lpstr>Studies Using Computation/Statistical Modeling (N = 33)</vt:lpstr>
      <vt:lpstr>Studies Using Record/Administrative Data (N = 17)</vt:lpstr>
      <vt:lpstr>Studies Using Record/Administrative Data (N = 17)</vt:lpstr>
      <vt:lpstr>Studies Where Sample Characteristics Determine Unpredictability (N = 2)</vt:lpstr>
      <vt:lpstr>Note as coding questionnaires</vt:lpstr>
      <vt:lpstr>Davis and Glynn 2024</vt:lpstr>
      <vt:lpstr>Survey/Questionnaire Studies (N = 20)</vt:lpstr>
      <vt:lpstr>Survey/Questionnaire Studies (N = 141)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Sihong Liu</dc:creator>
  <cp:lastModifiedBy>Sihong Liu</cp:lastModifiedBy>
  <cp:revision>41</cp:revision>
  <dcterms:created xsi:type="dcterms:W3CDTF">2024-03-08T17:40:22Z</dcterms:created>
  <dcterms:modified xsi:type="dcterms:W3CDTF">2024-11-13T18:51:10Z</dcterms:modified>
</cp:coreProperties>
</file>